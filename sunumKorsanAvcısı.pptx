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6BA7A-A375-41CD-A102-1FF2F9E0BA0F}" v="131" dt="2026-06-04T10:49:09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ikdörtgen 36">
            <a:extLst>
              <a:ext uri="{FF2B5EF4-FFF2-40B4-BE49-F238E27FC236}">
                <a16:creationId xmlns:a16="http://schemas.microsoft.com/office/drawing/2014/main" id="{26A579E3-9057-466B-BB07-ABCFAC7401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AF8BA51-490A-4659-B67E-85EE3267B5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F2C6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A91655D-1951-4583-AA38-55C7D99B33CF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0832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D6345EA-FAD7-491C-8931-4968C1FFA957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1A6C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7B868E7-A7C4-4F5D-B15D-CD7141A3E034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155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4CC4B66D-800F-404C-900F-61DB5CCD87FC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1A6C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E538E095-46A4-4DA3-B380-73CA2F046C3F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155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0119BC1-D8B1-4EAC-ACAE-BC280FD70F1A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1A6C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DF55B6F1-966A-450E-BC90-F2A28EB9B773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155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3C2E92F-0C81-49C1-9DD5-157AF7BAE90C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1A6C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787C5E17-7551-4E6C-A7DB-D5688B801352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155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78C8590A-B6AA-41FE-BA8B-7346BCA9528D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1A6C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6A775EA-FEA7-41B0-A465-712ED9533077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155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64E4C80-6F83-4EF1-91B0-CF5F7D7287B2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1A6C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6455BE41-DD6F-4A91-B4CC-7F72C8709157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155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17BBCBA-8D28-489C-8DC0-87781104CF7F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1A6C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9D3F3658-4FF9-413D-B676-6D1F63F147FF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155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C935D90-AB65-4BA7-B793-A5B7FBF68B70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2A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D96319ED-FF43-4A44-97E2-FFD4BEAFCA6B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4095750" cy="5562600"/>
          </a:xfrm>
          <a:prstGeom prst="rect">
            <a:avLst/>
          </a:prstGeom>
          <a:solidFill>
            <a:srgbClr val="041F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17286892-8DF9-48CB-812A-F2E4321F4DD4}"/>
              </a:ext>
            </a:extLst>
          </p:cNvPr>
          <p:cNvSpPr>
            <a:spLocks noGrp="1"/>
          </p:cNvSpPr>
          <p:nvPr/>
        </p:nvSpPr>
        <p:spPr>
          <a:xfrm>
            <a:off x="552450" y="62865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C6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C66D"/>
                </a:solidFill>
                <a:latin typeface="Aptos"/>
                <a:ea typeface="Aptos"/>
                <a:cs typeface="Aptos"/>
              </a:rPr>
              <a:t>BİL 210 YAPAY ZEKA HACKATHON PROTOTİPİ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E59EDE70-429C-49F4-84EF-CA18DCFD34B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314325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Korsan</a:t>
            </a:r>
          </a:p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Hazine Avcısı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3C5F0852-187C-492E-9BAA-78C6EC9429C3}"/>
              </a:ext>
            </a:extLst>
          </p:cNvPr>
          <p:cNvSpPr>
            <a:spLocks noGrp="1"/>
          </p:cNvSpPr>
          <p:nvPr/>
        </p:nvSpPr>
        <p:spPr>
          <a:xfrm>
            <a:off x="552450" y="2914650"/>
            <a:ext cx="3143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CEB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CEBE7"/>
                </a:solidFill>
                <a:latin typeface="Aptos"/>
                <a:ea typeface="Aptos"/>
                <a:cs typeface="Aptos"/>
              </a:rPr>
              <a:t>A* algoritması ile deniz adasında grid tabanlı rota planlama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85FF01A6-537D-4F46-A2F4-C34B399827B6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1524000" cy="904875"/>
          </a:xfrm>
          <a:prstGeom prst="rect">
            <a:avLst/>
          </a:prstGeom>
          <a:solidFill>
            <a:srgbClr val="0C5B73"/>
          </a:solidFill>
          <a:ln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AB1B5258-A9D4-4C29-9595-D13B169437A0}"/>
              </a:ext>
            </a:extLst>
          </p:cNvPr>
          <p:cNvSpPr>
            <a:spLocks noGrp="1"/>
          </p:cNvSpPr>
          <p:nvPr/>
        </p:nvSpPr>
        <p:spPr>
          <a:xfrm>
            <a:off x="704850" y="42481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12x12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BCD2D895-53D3-4E59-ACF0-99399C1141B2}"/>
              </a:ext>
            </a:extLst>
          </p:cNvPr>
          <p:cNvSpPr>
            <a:spLocks noGrp="1"/>
          </p:cNvSpPr>
          <p:nvPr/>
        </p:nvSpPr>
        <p:spPr>
          <a:xfrm>
            <a:off x="704850" y="46482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 grid'i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6F00E7AA-AD60-4062-90F0-8289C34BC8BD}"/>
              </a:ext>
            </a:extLst>
          </p:cNvPr>
          <p:cNvSpPr>
            <a:spLocks noGrp="1"/>
          </p:cNvSpPr>
          <p:nvPr/>
        </p:nvSpPr>
        <p:spPr>
          <a:xfrm>
            <a:off x="2266950" y="4095750"/>
            <a:ext cx="1524000" cy="904875"/>
          </a:xfrm>
          <a:prstGeom prst="rect">
            <a:avLst/>
          </a:prstGeom>
          <a:solidFill>
            <a:srgbClr val="117D96"/>
          </a:solidFill>
          <a:ln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45EE30DA-3DA1-4286-988D-C26A27D64D5A}"/>
              </a:ext>
            </a:extLst>
          </p:cNvPr>
          <p:cNvSpPr>
            <a:spLocks noGrp="1"/>
          </p:cNvSpPr>
          <p:nvPr/>
        </p:nvSpPr>
        <p:spPr>
          <a:xfrm>
            <a:off x="2419350" y="42481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A*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D93F0D65-60F0-430A-8395-1F58FDA85A92}"/>
              </a:ext>
            </a:extLst>
          </p:cNvPr>
          <p:cNvSpPr>
            <a:spLocks noGrp="1"/>
          </p:cNvSpPr>
          <p:nvPr/>
        </p:nvSpPr>
        <p:spPr>
          <a:xfrm>
            <a:off x="2419350" y="46482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Rota zekası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76B49203-C79B-498E-85E6-DD498F854A18}"/>
              </a:ext>
            </a:extLst>
          </p:cNvPr>
          <p:cNvSpPr>
            <a:spLocks noGrp="1"/>
          </p:cNvSpPr>
          <p:nvPr/>
        </p:nvSpPr>
        <p:spPr>
          <a:xfrm>
            <a:off x="552450" y="550545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5F7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F7F2"/>
                </a:solidFill>
                <a:latin typeface="Aptos"/>
                <a:ea typeface="Aptos"/>
                <a:cs typeface="Aptos"/>
              </a:rPr>
              <a:t>Serhat Ay | Aşır Can Aslan | Sadıkcan Çelik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BAF51FDE-7456-4C2F-89B9-347A49426E26}"/>
              </a:ext>
            </a:extLst>
          </p:cNvPr>
          <p:cNvSpPr>
            <a:spLocks noGrp="1"/>
          </p:cNvSpPr>
          <p:nvPr/>
        </p:nvSpPr>
        <p:spPr>
          <a:xfrm>
            <a:off x="4810125" y="971550"/>
            <a:ext cx="6096000" cy="3905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D96"/>
            </a:solidFill>
            <a:prstDash val="dash"/>
          </a:ln>
        </p:spPr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AC488D92-F3EB-4AE6-82BF-E367B5064DD7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CEB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CEBE7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7F2146E5-642C-473C-BF56-109619538DC4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BCEB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CEBE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38" name="Resim 37" descr="ekran görüntüsü, çizgi film, oyunca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C2E2099-5702-2D9A-88C3-0D8A01668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133" y="441570"/>
            <a:ext cx="6420581" cy="505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Dikdörtgen 37">
            <a:extLst>
              <a:ext uri="{FF2B5EF4-FFF2-40B4-BE49-F238E27FC236}">
                <a16:creationId xmlns:a16="http://schemas.microsoft.com/office/drawing/2014/main" id="{366B81C7-33A7-492A-BD7D-E6DCB5B1BB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63E8BE0-0EE7-4099-B7E9-4B1F3696C0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37D7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8439557-D52E-4FEF-A716-7EEC86BD4F4C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212CE139-CD5B-4AC0-8D33-09ECB13E0DF6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6971C98-8963-4B20-92FF-CD24D455EBF0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098D55A-BEFA-4A7E-AB77-85145437743B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2B530EB-20F5-48EA-895B-79845321589F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6FC498F-3570-4E33-BBFA-416D2FA32824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6E09137D-834B-42CA-8B3E-C78ECFBA3F2E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9ABA2DF8-C04E-49C8-926F-0152DF847B44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6B5228D4-359D-4CA8-A725-F1E3C4CFA6CF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CCB4EB75-0BCA-4946-B648-67638F46E019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215AD3CF-BB25-45BD-A3A7-2707C6CA0894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76CAC9DE-E6BC-4E6A-8358-AD27844BA2EF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F58B500D-1DBA-4554-87A6-9D97659A8408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64AD097B-69A1-42F0-A82C-5301B0F6166C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A509353-8438-4648-8051-F7DC454361A4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E5543CE-381C-49DD-91BB-F578DD11813E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B8354EB-3D6F-445D-B571-4011C924FFF3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37D7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1CF921D0-8358-4207-A6BC-1CA03D53B8DA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7D7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7D7C4"/>
                </a:solidFill>
                <a:latin typeface="Aptos"/>
                <a:ea typeface="Aptos"/>
                <a:cs typeface="Aptos"/>
              </a:rPr>
              <a:t>OYUN FIKRI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99C4446D-4520-4EE9-AB18-29547F2B9BCE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Hazineleri topla, kaleye ulaş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844F3171-1B16-4C5E-AC0F-A33B32258A4C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Ajan, deniz adasındaki güvenli ve düşük maliyetli görev rotasını arar.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B67C65FA-15C7-41BC-95CA-B814E68191A4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95250" cy="95250"/>
          </a:xfrm>
          <a:prstGeom prst="rect">
            <a:avLst/>
          </a:prstGeom>
          <a:solidFill>
            <a:srgbClr val="37D7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C658C309-3208-4E8E-9895-FB795B24CCE8}"/>
              </a:ext>
            </a:extLst>
          </p:cNvPr>
          <p:cNvSpPr>
            <a:spLocks noGrp="1"/>
          </p:cNvSpPr>
          <p:nvPr/>
        </p:nvSpPr>
        <p:spPr>
          <a:xfrm>
            <a:off x="1085850" y="2152650"/>
            <a:ext cx="508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RX-12 başlangıç noktasından çıkar ve hazine sandıklarını toplar.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2810E620-69C5-4128-87B1-8B5AF876E706}"/>
              </a:ext>
            </a:extLst>
          </p:cNvPr>
          <p:cNvSpPr>
            <a:spLocks noGrp="1"/>
          </p:cNvSpPr>
          <p:nvPr/>
        </p:nvSpPr>
        <p:spPr>
          <a:xfrm>
            <a:off x="838200" y="2638425"/>
            <a:ext cx="95250" cy="95250"/>
          </a:xfrm>
          <a:prstGeom prst="rect">
            <a:avLst/>
          </a:prstGeom>
          <a:solidFill>
            <a:srgbClr val="F2C6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264DD2D9-1023-4096-B4F5-FB4E12CD3725}"/>
              </a:ext>
            </a:extLst>
          </p:cNvPr>
          <p:cNvSpPr>
            <a:spLocks noGrp="1"/>
          </p:cNvSpPr>
          <p:nvPr/>
        </p:nvSpPr>
        <p:spPr>
          <a:xfrm>
            <a:off x="1085850" y="2552700"/>
            <a:ext cx="508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Kale hedefi, bütün hazineler toplandıktan sonra geçerli olur.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D27AEDD8-ED60-4E04-8AF1-656DF2B402AD}"/>
              </a:ext>
            </a:extLst>
          </p:cNvPr>
          <p:cNvSpPr>
            <a:spLocks noGrp="1"/>
          </p:cNvSpPr>
          <p:nvPr/>
        </p:nvSpPr>
        <p:spPr>
          <a:xfrm>
            <a:off x="838200" y="3038475"/>
            <a:ext cx="95250" cy="95250"/>
          </a:xfrm>
          <a:prstGeom prst="rect">
            <a:avLst/>
          </a:prstGeom>
          <a:solidFill>
            <a:srgbClr val="F26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21E2D8B6-9119-440B-ABF2-3179C784A99D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508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Kayalar kapalıdır; top mevzisi ve batık gemi daha pahalıdır.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645F1176-C3EF-4A77-8097-AE293B783A0F}"/>
              </a:ext>
            </a:extLst>
          </p:cNvPr>
          <p:cNvSpPr>
            <a:spLocks noGrp="1"/>
          </p:cNvSpPr>
          <p:nvPr/>
        </p:nvSpPr>
        <p:spPr>
          <a:xfrm>
            <a:off x="838200" y="3438525"/>
            <a:ext cx="95250" cy="9525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5C75E5B1-1623-416B-A584-C47838982D98}"/>
              </a:ext>
            </a:extLst>
          </p:cNvPr>
          <p:cNvSpPr>
            <a:spLocks noGrp="1"/>
          </p:cNvSpPr>
          <p:nvPr/>
        </p:nvSpPr>
        <p:spPr>
          <a:xfrm>
            <a:off x="1085850" y="3352800"/>
            <a:ext cx="508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A* algoritması hem görev sırasını hem rota maliyetini hesaba katar.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B8828F27-AC39-487D-A813-819C988DD3A4}"/>
              </a:ext>
            </a:extLst>
          </p:cNvPr>
          <p:cNvSpPr>
            <a:spLocks noGrp="1"/>
          </p:cNvSpPr>
          <p:nvPr/>
        </p:nvSpPr>
        <p:spPr>
          <a:xfrm>
            <a:off x="7000875" y="1733550"/>
            <a:ext cx="3905250" cy="30289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D96"/>
            </a:solidFill>
            <a:prstDash val="dash"/>
          </a:ln>
        </p:spPr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5E921A17-C858-46F3-B778-48ECAE831604}"/>
              </a:ext>
            </a:extLst>
          </p:cNvPr>
          <p:cNvSpPr>
            <a:spLocks noGrp="1"/>
          </p:cNvSpPr>
          <p:nvPr/>
        </p:nvSpPr>
        <p:spPr>
          <a:xfrm>
            <a:off x="7172325" y="1905000"/>
            <a:ext cx="438150" cy="438150"/>
          </a:xfrm>
          <a:prstGeom prst="rect">
            <a:avLst/>
          </a:prstGeom>
          <a:solidFill>
            <a:srgbClr val="E8FBF8"/>
          </a:solidFill>
          <a:ln w="10478">
            <a:solidFill>
              <a:srgbClr val="37D7C4"/>
            </a:solidFill>
            <a:prstDash val="solid"/>
          </a:ln>
        </p:spPr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05C4A36C-C672-4FF8-9CBF-E3E6ECE2843D}"/>
              </a:ext>
            </a:extLst>
          </p:cNvPr>
          <p:cNvSpPr>
            <a:spLocks noGrp="1"/>
          </p:cNvSpPr>
          <p:nvPr/>
        </p:nvSpPr>
        <p:spPr>
          <a:xfrm>
            <a:off x="7781925" y="1933575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GÖRSEL ALANI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DDB9D588-354F-42C1-B393-D1CF66CA1E2A}"/>
              </a:ext>
            </a:extLst>
          </p:cNvPr>
          <p:cNvSpPr>
            <a:spLocks noGrp="1"/>
          </p:cNvSpPr>
          <p:nvPr/>
        </p:nvSpPr>
        <p:spPr>
          <a:xfrm>
            <a:off x="7781925" y="21907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Buraya 3D deniz adası ekranı gelecek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EDBA814C-EAF9-4344-9BF7-92EA55717BFE}"/>
              </a:ext>
            </a:extLst>
          </p:cNvPr>
          <p:cNvSpPr>
            <a:spLocks noGrp="1"/>
          </p:cNvSpPr>
          <p:nvPr/>
        </p:nvSpPr>
        <p:spPr>
          <a:xfrm>
            <a:off x="7781925" y="276225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Öneri: docs/screenshots/desktop-3d-b-castle-v24.png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DF80F769-FE2B-480C-B71A-EC7F656CF6F1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3009C01-3B83-4BAF-A5E0-FB68A8DCC1CB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39" name="Resim 38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F008557-CB37-738A-2B31-8C73C7EE7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044" y="1582615"/>
            <a:ext cx="4373143" cy="364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23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Dikdörtgen 139">
            <a:extLst>
              <a:ext uri="{FF2B5EF4-FFF2-40B4-BE49-F238E27FC236}">
                <a16:creationId xmlns:a16="http://schemas.microsoft.com/office/drawing/2014/main" id="{C17DDFB3-C6EC-43F8-A495-F1694BDD86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BFBFE5FF-B379-481C-94F1-64DA3C26D9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5960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95CC9BF-DC01-4EBC-8B90-7A237C57288C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EA7611A-E357-4C87-A3E4-41E2DC7D2870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C982D26-BB64-442C-984B-99FD6347480A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6D527D5-EED9-44E1-AC81-58F3B7CC966B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3DF66E9A-0A4C-41A4-A725-AE2DB504BD82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1B79FDB-0BED-426C-94EB-BE95DA0F592D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BA15CFC3-A1F8-4C15-9F17-D91F9427F6C1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C0DD0D8-2FB3-4877-93F4-07496AA77486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2751774A-C8C2-4567-B4CA-3308C8CE91BE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AAE6067-ECBD-467E-A49E-8AA1C560FBE1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9578591-E3F5-4932-AB0D-ACDD72BF1901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56A2BA1-243E-4233-9A09-81093EBF0DBD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BADE9D4C-0D7C-494C-A040-5791507C8F50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C3904C8B-6D1E-43A3-80DB-6520A1831A4F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4CC75C9-4DC2-4183-8B93-13C6729D2D33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8CD8ACDF-02A5-445E-9769-B030D5FD665D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CE9A7DEB-0742-43D5-9CDD-A1787459D1A0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5960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E286E78F-975A-4116-8549-6320B227C8F9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96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0B8"/>
                </a:solidFill>
                <a:latin typeface="Aptos"/>
                <a:ea typeface="Aptos"/>
                <a:cs typeface="Aptos"/>
              </a:rPr>
              <a:t>PROBLEM UZAYI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1D5E6369-46BB-412F-98B8-FB363E090499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Konum ve hazine maskesi birlikte tutulur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D0622611-68E7-4817-96DB-C77702733522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Ajanın durumu yalnızca bulunduğu hücre değil, topladığı hazinelerle birlikte tanımlanır.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4B5390C9-7F62-4CF4-83D1-844B69B81589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19075" cy="219075"/>
          </a:xfrm>
          <a:prstGeom prst="rect">
            <a:avLst/>
          </a:prstGeom>
          <a:solidFill>
            <a:srgbClr val="37D7C4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2813D0C7-0528-41A6-8ACC-7DD579513B5A}"/>
              </a:ext>
            </a:extLst>
          </p:cNvPr>
          <p:cNvSpPr>
            <a:spLocks noGrp="1"/>
          </p:cNvSpPr>
          <p:nvPr/>
        </p:nvSpPr>
        <p:spPr>
          <a:xfrm>
            <a:off x="1114425" y="2095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F536DAB5-2C0A-4986-B51E-7FE05FBF9E9B}"/>
              </a:ext>
            </a:extLst>
          </p:cNvPr>
          <p:cNvSpPr>
            <a:spLocks noGrp="1"/>
          </p:cNvSpPr>
          <p:nvPr/>
        </p:nvSpPr>
        <p:spPr>
          <a:xfrm>
            <a:off x="1352550" y="2095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6D76826A-7716-4D42-99F9-FF6A75C41DBA}"/>
              </a:ext>
            </a:extLst>
          </p:cNvPr>
          <p:cNvSpPr>
            <a:spLocks noGrp="1"/>
          </p:cNvSpPr>
          <p:nvPr/>
        </p:nvSpPr>
        <p:spPr>
          <a:xfrm>
            <a:off x="1590675" y="2095500"/>
            <a:ext cx="219075" cy="219075"/>
          </a:xfrm>
          <a:prstGeom prst="rect">
            <a:avLst/>
          </a:prstGeom>
          <a:solidFill>
            <a:srgbClr val="F26D5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87C7C50C-F40D-4369-839F-7B55885AD99C}"/>
              </a:ext>
            </a:extLst>
          </p:cNvPr>
          <p:cNvSpPr>
            <a:spLocks noGrp="1"/>
          </p:cNvSpPr>
          <p:nvPr/>
        </p:nvSpPr>
        <p:spPr>
          <a:xfrm>
            <a:off x="1828800" y="2095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A50AD563-A575-4E2D-A655-6F7244260079}"/>
              </a:ext>
            </a:extLst>
          </p:cNvPr>
          <p:cNvSpPr>
            <a:spLocks noGrp="1"/>
          </p:cNvSpPr>
          <p:nvPr/>
        </p:nvSpPr>
        <p:spPr>
          <a:xfrm>
            <a:off x="2066925" y="2095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047FD1AF-B598-4626-A221-95E355EBC488}"/>
              </a:ext>
            </a:extLst>
          </p:cNvPr>
          <p:cNvSpPr>
            <a:spLocks noGrp="1"/>
          </p:cNvSpPr>
          <p:nvPr/>
        </p:nvSpPr>
        <p:spPr>
          <a:xfrm>
            <a:off x="2305050" y="209550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4900A421-856C-498C-B841-E2D303AFC89C}"/>
              </a:ext>
            </a:extLst>
          </p:cNvPr>
          <p:cNvSpPr>
            <a:spLocks noGrp="1"/>
          </p:cNvSpPr>
          <p:nvPr/>
        </p:nvSpPr>
        <p:spPr>
          <a:xfrm>
            <a:off x="2543175" y="2095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3603D48B-C2A1-4578-A661-61045C0C08D6}"/>
              </a:ext>
            </a:extLst>
          </p:cNvPr>
          <p:cNvSpPr>
            <a:spLocks noGrp="1"/>
          </p:cNvSpPr>
          <p:nvPr/>
        </p:nvSpPr>
        <p:spPr>
          <a:xfrm>
            <a:off x="2781300" y="2095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A8EF97BA-596D-4B41-8390-7292952FBB83}"/>
              </a:ext>
            </a:extLst>
          </p:cNvPr>
          <p:cNvSpPr>
            <a:spLocks noGrp="1"/>
          </p:cNvSpPr>
          <p:nvPr/>
        </p:nvSpPr>
        <p:spPr>
          <a:xfrm>
            <a:off x="3019425" y="2095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3FF7CF39-507D-4B78-970C-5BA1DD1BDB91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2FC964F4-CD13-4463-9364-3A3A73C44381}"/>
              </a:ext>
            </a:extLst>
          </p:cNvPr>
          <p:cNvSpPr>
            <a:spLocks noGrp="1"/>
          </p:cNvSpPr>
          <p:nvPr/>
        </p:nvSpPr>
        <p:spPr>
          <a:xfrm>
            <a:off x="1114425" y="2333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200451C3-FA3E-4C54-A2DA-9FD4102D49B1}"/>
              </a:ext>
            </a:extLst>
          </p:cNvPr>
          <p:cNvSpPr>
            <a:spLocks noGrp="1"/>
          </p:cNvSpPr>
          <p:nvPr/>
        </p:nvSpPr>
        <p:spPr>
          <a:xfrm>
            <a:off x="1352550" y="2333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8C752F9F-C415-43BC-A423-F0EE4DC05657}"/>
              </a:ext>
            </a:extLst>
          </p:cNvPr>
          <p:cNvSpPr>
            <a:spLocks noGrp="1"/>
          </p:cNvSpPr>
          <p:nvPr/>
        </p:nvSpPr>
        <p:spPr>
          <a:xfrm>
            <a:off x="1590675" y="2333625"/>
            <a:ext cx="219075" cy="219075"/>
          </a:xfrm>
          <a:prstGeom prst="rect">
            <a:avLst/>
          </a:prstGeom>
          <a:solidFill>
            <a:srgbClr val="F26D5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CA86EDB0-840E-47FE-853B-26C81AEBE8D6}"/>
              </a:ext>
            </a:extLst>
          </p:cNvPr>
          <p:cNvSpPr>
            <a:spLocks noGrp="1"/>
          </p:cNvSpPr>
          <p:nvPr/>
        </p:nvSpPr>
        <p:spPr>
          <a:xfrm>
            <a:off x="1828800" y="2333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5AC4A3AE-EEDA-4208-A886-2250B72582AC}"/>
              </a:ext>
            </a:extLst>
          </p:cNvPr>
          <p:cNvSpPr>
            <a:spLocks noGrp="1"/>
          </p:cNvSpPr>
          <p:nvPr/>
        </p:nvSpPr>
        <p:spPr>
          <a:xfrm>
            <a:off x="2066925" y="2333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EEA46CB5-4DED-4F2F-A132-741DDA90016B}"/>
              </a:ext>
            </a:extLst>
          </p:cNvPr>
          <p:cNvSpPr>
            <a:spLocks noGrp="1"/>
          </p:cNvSpPr>
          <p:nvPr/>
        </p:nvSpPr>
        <p:spPr>
          <a:xfrm>
            <a:off x="2305050" y="2333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5D49F4F4-1C4D-4AE8-BA78-39317F5BF26D}"/>
              </a:ext>
            </a:extLst>
          </p:cNvPr>
          <p:cNvSpPr>
            <a:spLocks noGrp="1"/>
          </p:cNvSpPr>
          <p:nvPr/>
        </p:nvSpPr>
        <p:spPr>
          <a:xfrm>
            <a:off x="2543175" y="2333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13B38C00-BABF-4640-B439-65137033D62C}"/>
              </a:ext>
            </a:extLst>
          </p:cNvPr>
          <p:cNvSpPr>
            <a:spLocks noGrp="1"/>
          </p:cNvSpPr>
          <p:nvPr/>
        </p:nvSpPr>
        <p:spPr>
          <a:xfrm>
            <a:off x="2781300" y="2333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66B9E2D-F125-4720-8866-93AE750DEA6A}"/>
              </a:ext>
            </a:extLst>
          </p:cNvPr>
          <p:cNvSpPr>
            <a:spLocks noGrp="1"/>
          </p:cNvSpPr>
          <p:nvPr/>
        </p:nvSpPr>
        <p:spPr>
          <a:xfrm>
            <a:off x="3019425" y="2333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B577FCE9-E592-4864-8562-AC38ED2FE73D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4D9B2CC2-0FB4-4A6A-A190-BDCD3001536E}"/>
              </a:ext>
            </a:extLst>
          </p:cNvPr>
          <p:cNvSpPr>
            <a:spLocks noGrp="1"/>
          </p:cNvSpPr>
          <p:nvPr/>
        </p:nvSpPr>
        <p:spPr>
          <a:xfrm>
            <a:off x="1114425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4D95FD7A-14A3-405B-B426-04795A7B742D}"/>
              </a:ext>
            </a:extLst>
          </p:cNvPr>
          <p:cNvSpPr>
            <a:spLocks noGrp="1"/>
          </p:cNvSpPr>
          <p:nvPr/>
        </p:nvSpPr>
        <p:spPr>
          <a:xfrm>
            <a:off x="1352550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357506AE-84CC-43E1-BDE3-FD4072FC638D}"/>
              </a:ext>
            </a:extLst>
          </p:cNvPr>
          <p:cNvSpPr>
            <a:spLocks noGrp="1"/>
          </p:cNvSpPr>
          <p:nvPr/>
        </p:nvSpPr>
        <p:spPr>
          <a:xfrm>
            <a:off x="1590675" y="2571750"/>
            <a:ext cx="219075" cy="219075"/>
          </a:xfrm>
          <a:prstGeom prst="rect">
            <a:avLst/>
          </a:prstGeom>
          <a:solidFill>
            <a:srgbClr val="F26D5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751B5782-349D-4735-B247-E0AE53189FD9}"/>
              </a:ext>
            </a:extLst>
          </p:cNvPr>
          <p:cNvSpPr>
            <a:spLocks noGrp="1"/>
          </p:cNvSpPr>
          <p:nvPr/>
        </p:nvSpPr>
        <p:spPr>
          <a:xfrm>
            <a:off x="1828800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4170BFE1-CF4C-4565-A4DF-984C5E814AAB}"/>
              </a:ext>
            </a:extLst>
          </p:cNvPr>
          <p:cNvSpPr>
            <a:spLocks noGrp="1"/>
          </p:cNvSpPr>
          <p:nvPr/>
        </p:nvSpPr>
        <p:spPr>
          <a:xfrm>
            <a:off x="2066925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58389468-DDBA-4B29-990A-AA762CF28663}"/>
              </a:ext>
            </a:extLst>
          </p:cNvPr>
          <p:cNvSpPr>
            <a:spLocks noGrp="1"/>
          </p:cNvSpPr>
          <p:nvPr/>
        </p:nvSpPr>
        <p:spPr>
          <a:xfrm>
            <a:off x="2305050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DD271FD0-9575-4B51-97F0-8664F9B37324}"/>
              </a:ext>
            </a:extLst>
          </p:cNvPr>
          <p:cNvSpPr>
            <a:spLocks noGrp="1"/>
          </p:cNvSpPr>
          <p:nvPr/>
        </p:nvSpPr>
        <p:spPr>
          <a:xfrm>
            <a:off x="2543175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B2E652DF-FB09-4876-84DE-C346C5CE116E}"/>
              </a:ext>
            </a:extLst>
          </p:cNvPr>
          <p:cNvSpPr>
            <a:spLocks noGrp="1"/>
          </p:cNvSpPr>
          <p:nvPr/>
        </p:nvSpPr>
        <p:spPr>
          <a:xfrm>
            <a:off x="2781300" y="257175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89B55448-7D91-40C5-9727-8227DF05AD8B}"/>
              </a:ext>
            </a:extLst>
          </p:cNvPr>
          <p:cNvSpPr>
            <a:spLocks noGrp="1"/>
          </p:cNvSpPr>
          <p:nvPr/>
        </p:nvSpPr>
        <p:spPr>
          <a:xfrm>
            <a:off x="3019425" y="25717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3B639231-B6CF-4FB8-95EB-EB19E545A69E}"/>
              </a:ext>
            </a:extLst>
          </p:cNvPr>
          <p:cNvSpPr>
            <a:spLocks noGrp="1"/>
          </p:cNvSpPr>
          <p:nvPr/>
        </p:nvSpPr>
        <p:spPr>
          <a:xfrm>
            <a:off x="876300" y="28098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305E928B-B4FC-4FBF-95A8-AB1BDB80AE43}"/>
              </a:ext>
            </a:extLst>
          </p:cNvPr>
          <p:cNvSpPr>
            <a:spLocks noGrp="1"/>
          </p:cNvSpPr>
          <p:nvPr/>
        </p:nvSpPr>
        <p:spPr>
          <a:xfrm>
            <a:off x="1114425" y="28098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B4ADF361-3F91-4F43-93AD-D3C5D487CAE4}"/>
              </a:ext>
            </a:extLst>
          </p:cNvPr>
          <p:cNvSpPr>
            <a:spLocks noGrp="1"/>
          </p:cNvSpPr>
          <p:nvPr/>
        </p:nvSpPr>
        <p:spPr>
          <a:xfrm>
            <a:off x="1352550" y="28098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F8067B69-1FCC-4E61-A547-908CE83BF29B}"/>
              </a:ext>
            </a:extLst>
          </p:cNvPr>
          <p:cNvSpPr>
            <a:spLocks noGrp="1"/>
          </p:cNvSpPr>
          <p:nvPr/>
        </p:nvSpPr>
        <p:spPr>
          <a:xfrm>
            <a:off x="1590675" y="28098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F0A1095F-0CA3-4125-A7FE-2AD154305A9D}"/>
              </a:ext>
            </a:extLst>
          </p:cNvPr>
          <p:cNvSpPr>
            <a:spLocks noGrp="1"/>
          </p:cNvSpPr>
          <p:nvPr/>
        </p:nvSpPr>
        <p:spPr>
          <a:xfrm>
            <a:off x="1828800" y="28098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CECAD5D5-9B42-4819-9C85-047FADF90D6B}"/>
              </a:ext>
            </a:extLst>
          </p:cNvPr>
          <p:cNvSpPr>
            <a:spLocks noGrp="1"/>
          </p:cNvSpPr>
          <p:nvPr/>
        </p:nvSpPr>
        <p:spPr>
          <a:xfrm>
            <a:off x="2066925" y="28098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EFA2D693-9E55-46E1-A20F-4E4D7370FB77}"/>
              </a:ext>
            </a:extLst>
          </p:cNvPr>
          <p:cNvSpPr>
            <a:spLocks noGrp="1"/>
          </p:cNvSpPr>
          <p:nvPr/>
        </p:nvSpPr>
        <p:spPr>
          <a:xfrm>
            <a:off x="2305050" y="28098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0" name="Dikdörtgen 59">
            <a:extLst>
              <a:ext uri="{FF2B5EF4-FFF2-40B4-BE49-F238E27FC236}">
                <a16:creationId xmlns:a16="http://schemas.microsoft.com/office/drawing/2014/main" id="{8D8CF0E8-DF0D-4BAA-94B7-B0A613FD0637}"/>
              </a:ext>
            </a:extLst>
          </p:cNvPr>
          <p:cNvSpPr>
            <a:spLocks noGrp="1"/>
          </p:cNvSpPr>
          <p:nvPr/>
        </p:nvSpPr>
        <p:spPr>
          <a:xfrm>
            <a:off x="2543175" y="28098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1" name="Dikdörtgen 60">
            <a:extLst>
              <a:ext uri="{FF2B5EF4-FFF2-40B4-BE49-F238E27FC236}">
                <a16:creationId xmlns:a16="http://schemas.microsoft.com/office/drawing/2014/main" id="{044DCA46-B80A-434B-980F-38A095702AAD}"/>
              </a:ext>
            </a:extLst>
          </p:cNvPr>
          <p:cNvSpPr>
            <a:spLocks noGrp="1"/>
          </p:cNvSpPr>
          <p:nvPr/>
        </p:nvSpPr>
        <p:spPr>
          <a:xfrm>
            <a:off x="2781300" y="28098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2" name="Dikdörtgen 61">
            <a:extLst>
              <a:ext uri="{FF2B5EF4-FFF2-40B4-BE49-F238E27FC236}">
                <a16:creationId xmlns:a16="http://schemas.microsoft.com/office/drawing/2014/main" id="{8939A688-91E1-4B42-BC61-8E90997B672A}"/>
              </a:ext>
            </a:extLst>
          </p:cNvPr>
          <p:cNvSpPr>
            <a:spLocks noGrp="1"/>
          </p:cNvSpPr>
          <p:nvPr/>
        </p:nvSpPr>
        <p:spPr>
          <a:xfrm>
            <a:off x="3019425" y="28098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3" name="Dikdörtgen 62">
            <a:extLst>
              <a:ext uri="{FF2B5EF4-FFF2-40B4-BE49-F238E27FC236}">
                <a16:creationId xmlns:a16="http://schemas.microsoft.com/office/drawing/2014/main" id="{0968CB96-BE75-4CB2-8C8C-6BC22CEA9C66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4" name="Dikdörtgen 63">
            <a:extLst>
              <a:ext uri="{FF2B5EF4-FFF2-40B4-BE49-F238E27FC236}">
                <a16:creationId xmlns:a16="http://schemas.microsoft.com/office/drawing/2014/main" id="{0B7466D5-8045-4D6E-ADC6-38C8E2B29F17}"/>
              </a:ext>
            </a:extLst>
          </p:cNvPr>
          <p:cNvSpPr>
            <a:spLocks noGrp="1"/>
          </p:cNvSpPr>
          <p:nvPr/>
        </p:nvSpPr>
        <p:spPr>
          <a:xfrm>
            <a:off x="1114425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5" name="Dikdörtgen 64">
            <a:extLst>
              <a:ext uri="{FF2B5EF4-FFF2-40B4-BE49-F238E27FC236}">
                <a16:creationId xmlns:a16="http://schemas.microsoft.com/office/drawing/2014/main" id="{E46FBE70-6C8A-4015-8CBA-A361FD6B3FD0}"/>
              </a:ext>
            </a:extLst>
          </p:cNvPr>
          <p:cNvSpPr>
            <a:spLocks noGrp="1"/>
          </p:cNvSpPr>
          <p:nvPr/>
        </p:nvSpPr>
        <p:spPr>
          <a:xfrm>
            <a:off x="1352550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6" name="Dikdörtgen 65">
            <a:extLst>
              <a:ext uri="{FF2B5EF4-FFF2-40B4-BE49-F238E27FC236}">
                <a16:creationId xmlns:a16="http://schemas.microsoft.com/office/drawing/2014/main" id="{1E7362CF-441F-4AA3-84DB-7ADF042E7F54}"/>
              </a:ext>
            </a:extLst>
          </p:cNvPr>
          <p:cNvSpPr>
            <a:spLocks noGrp="1"/>
          </p:cNvSpPr>
          <p:nvPr/>
        </p:nvSpPr>
        <p:spPr>
          <a:xfrm>
            <a:off x="1590675" y="3048000"/>
            <a:ext cx="219075" cy="219075"/>
          </a:xfrm>
          <a:prstGeom prst="rect">
            <a:avLst/>
          </a:prstGeom>
          <a:solidFill>
            <a:srgbClr val="F2C66D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7" name="Dikdörtgen 66">
            <a:extLst>
              <a:ext uri="{FF2B5EF4-FFF2-40B4-BE49-F238E27FC236}">
                <a16:creationId xmlns:a16="http://schemas.microsoft.com/office/drawing/2014/main" id="{43F285F8-B251-4395-9BCB-C58122AAD0B7}"/>
              </a:ext>
            </a:extLst>
          </p:cNvPr>
          <p:cNvSpPr>
            <a:spLocks noGrp="1"/>
          </p:cNvSpPr>
          <p:nvPr/>
        </p:nvSpPr>
        <p:spPr>
          <a:xfrm>
            <a:off x="1828800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8" name="Dikdörtgen 67">
            <a:extLst>
              <a:ext uri="{FF2B5EF4-FFF2-40B4-BE49-F238E27FC236}">
                <a16:creationId xmlns:a16="http://schemas.microsoft.com/office/drawing/2014/main" id="{01A19017-1FDC-4012-982D-C81C0C4DF4A3}"/>
              </a:ext>
            </a:extLst>
          </p:cNvPr>
          <p:cNvSpPr>
            <a:spLocks noGrp="1"/>
          </p:cNvSpPr>
          <p:nvPr/>
        </p:nvSpPr>
        <p:spPr>
          <a:xfrm>
            <a:off x="2066925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69" name="Dikdörtgen 68">
            <a:extLst>
              <a:ext uri="{FF2B5EF4-FFF2-40B4-BE49-F238E27FC236}">
                <a16:creationId xmlns:a16="http://schemas.microsoft.com/office/drawing/2014/main" id="{3B7D33DF-54FD-4E82-AF61-FFD75EF1103E}"/>
              </a:ext>
            </a:extLst>
          </p:cNvPr>
          <p:cNvSpPr>
            <a:spLocks noGrp="1"/>
          </p:cNvSpPr>
          <p:nvPr/>
        </p:nvSpPr>
        <p:spPr>
          <a:xfrm>
            <a:off x="2305050" y="3048000"/>
            <a:ext cx="219075" cy="219075"/>
          </a:xfrm>
          <a:prstGeom prst="rect">
            <a:avLst/>
          </a:prstGeom>
          <a:solidFill>
            <a:srgbClr val="F26D5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0" name="Dikdörtgen 69">
            <a:extLst>
              <a:ext uri="{FF2B5EF4-FFF2-40B4-BE49-F238E27FC236}">
                <a16:creationId xmlns:a16="http://schemas.microsoft.com/office/drawing/2014/main" id="{D03A4AE0-8F99-4A8F-808B-97D0F86E4DD2}"/>
              </a:ext>
            </a:extLst>
          </p:cNvPr>
          <p:cNvSpPr>
            <a:spLocks noGrp="1"/>
          </p:cNvSpPr>
          <p:nvPr/>
        </p:nvSpPr>
        <p:spPr>
          <a:xfrm>
            <a:off x="2543175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1" name="Dikdörtgen 70">
            <a:extLst>
              <a:ext uri="{FF2B5EF4-FFF2-40B4-BE49-F238E27FC236}">
                <a16:creationId xmlns:a16="http://schemas.microsoft.com/office/drawing/2014/main" id="{285092E5-2191-47D8-BBEE-BDF5DC30BB55}"/>
              </a:ext>
            </a:extLst>
          </p:cNvPr>
          <p:cNvSpPr>
            <a:spLocks noGrp="1"/>
          </p:cNvSpPr>
          <p:nvPr/>
        </p:nvSpPr>
        <p:spPr>
          <a:xfrm>
            <a:off x="2781300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2" name="Dikdörtgen 71">
            <a:extLst>
              <a:ext uri="{FF2B5EF4-FFF2-40B4-BE49-F238E27FC236}">
                <a16:creationId xmlns:a16="http://schemas.microsoft.com/office/drawing/2014/main" id="{C8DEB3BD-F037-4048-92F4-623417D1D03A}"/>
              </a:ext>
            </a:extLst>
          </p:cNvPr>
          <p:cNvSpPr>
            <a:spLocks noGrp="1"/>
          </p:cNvSpPr>
          <p:nvPr/>
        </p:nvSpPr>
        <p:spPr>
          <a:xfrm>
            <a:off x="3019425" y="30480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3" name="Dikdörtgen 72">
            <a:extLst>
              <a:ext uri="{FF2B5EF4-FFF2-40B4-BE49-F238E27FC236}">
                <a16:creationId xmlns:a16="http://schemas.microsoft.com/office/drawing/2014/main" id="{0CB3DF20-EE88-4C2F-B5C2-181A91B523A9}"/>
              </a:ext>
            </a:extLst>
          </p:cNvPr>
          <p:cNvSpPr>
            <a:spLocks noGrp="1"/>
          </p:cNvSpPr>
          <p:nvPr/>
        </p:nvSpPr>
        <p:spPr>
          <a:xfrm>
            <a:off x="876300" y="32861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4" name="Dikdörtgen 73">
            <a:extLst>
              <a:ext uri="{FF2B5EF4-FFF2-40B4-BE49-F238E27FC236}">
                <a16:creationId xmlns:a16="http://schemas.microsoft.com/office/drawing/2014/main" id="{EC98D951-277D-42D5-A819-89C693CC54D7}"/>
              </a:ext>
            </a:extLst>
          </p:cNvPr>
          <p:cNvSpPr>
            <a:spLocks noGrp="1"/>
          </p:cNvSpPr>
          <p:nvPr/>
        </p:nvSpPr>
        <p:spPr>
          <a:xfrm>
            <a:off x="1114425" y="32861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5" name="Dikdörtgen 74">
            <a:extLst>
              <a:ext uri="{FF2B5EF4-FFF2-40B4-BE49-F238E27FC236}">
                <a16:creationId xmlns:a16="http://schemas.microsoft.com/office/drawing/2014/main" id="{6B531B86-C8E1-469E-9BFB-C15BE3F2E067}"/>
              </a:ext>
            </a:extLst>
          </p:cNvPr>
          <p:cNvSpPr>
            <a:spLocks noGrp="1"/>
          </p:cNvSpPr>
          <p:nvPr/>
        </p:nvSpPr>
        <p:spPr>
          <a:xfrm>
            <a:off x="1352550" y="32861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6" name="Dikdörtgen 75">
            <a:extLst>
              <a:ext uri="{FF2B5EF4-FFF2-40B4-BE49-F238E27FC236}">
                <a16:creationId xmlns:a16="http://schemas.microsoft.com/office/drawing/2014/main" id="{029DA4E0-0E31-4755-9211-3EF73AA22639}"/>
              </a:ext>
            </a:extLst>
          </p:cNvPr>
          <p:cNvSpPr>
            <a:spLocks noGrp="1"/>
          </p:cNvSpPr>
          <p:nvPr/>
        </p:nvSpPr>
        <p:spPr>
          <a:xfrm>
            <a:off x="1590675" y="32861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7" name="Dikdörtgen 76">
            <a:extLst>
              <a:ext uri="{FF2B5EF4-FFF2-40B4-BE49-F238E27FC236}">
                <a16:creationId xmlns:a16="http://schemas.microsoft.com/office/drawing/2014/main" id="{3B10A7BB-81B9-43BB-8CB7-C722399E0651}"/>
              </a:ext>
            </a:extLst>
          </p:cNvPr>
          <p:cNvSpPr>
            <a:spLocks noGrp="1"/>
          </p:cNvSpPr>
          <p:nvPr/>
        </p:nvSpPr>
        <p:spPr>
          <a:xfrm>
            <a:off x="1828800" y="32861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8" name="Dikdörtgen 77">
            <a:extLst>
              <a:ext uri="{FF2B5EF4-FFF2-40B4-BE49-F238E27FC236}">
                <a16:creationId xmlns:a16="http://schemas.microsoft.com/office/drawing/2014/main" id="{1A4B433F-B546-45F1-B3DA-713CDF7E0B03}"/>
              </a:ext>
            </a:extLst>
          </p:cNvPr>
          <p:cNvSpPr>
            <a:spLocks noGrp="1"/>
          </p:cNvSpPr>
          <p:nvPr/>
        </p:nvSpPr>
        <p:spPr>
          <a:xfrm>
            <a:off x="2066925" y="32861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79" name="Dikdörtgen 78">
            <a:extLst>
              <a:ext uri="{FF2B5EF4-FFF2-40B4-BE49-F238E27FC236}">
                <a16:creationId xmlns:a16="http://schemas.microsoft.com/office/drawing/2014/main" id="{7F914FE2-91CD-43A9-A46C-3A470C89EFAB}"/>
              </a:ext>
            </a:extLst>
          </p:cNvPr>
          <p:cNvSpPr>
            <a:spLocks noGrp="1"/>
          </p:cNvSpPr>
          <p:nvPr/>
        </p:nvSpPr>
        <p:spPr>
          <a:xfrm>
            <a:off x="2305050" y="32861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FA134550-2222-43F9-A54F-6279B2DD28A6}"/>
              </a:ext>
            </a:extLst>
          </p:cNvPr>
          <p:cNvSpPr>
            <a:spLocks noGrp="1"/>
          </p:cNvSpPr>
          <p:nvPr/>
        </p:nvSpPr>
        <p:spPr>
          <a:xfrm>
            <a:off x="2543175" y="32861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286EF6A0-A662-4ED0-8D5C-EF6497A71ABB}"/>
              </a:ext>
            </a:extLst>
          </p:cNvPr>
          <p:cNvSpPr>
            <a:spLocks noGrp="1"/>
          </p:cNvSpPr>
          <p:nvPr/>
        </p:nvSpPr>
        <p:spPr>
          <a:xfrm>
            <a:off x="2781300" y="32861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2" name="Dikdörtgen 81">
            <a:extLst>
              <a:ext uri="{FF2B5EF4-FFF2-40B4-BE49-F238E27FC236}">
                <a16:creationId xmlns:a16="http://schemas.microsoft.com/office/drawing/2014/main" id="{531A00E1-6230-4BEC-9869-61F372C740D4}"/>
              </a:ext>
            </a:extLst>
          </p:cNvPr>
          <p:cNvSpPr>
            <a:spLocks noGrp="1"/>
          </p:cNvSpPr>
          <p:nvPr/>
        </p:nvSpPr>
        <p:spPr>
          <a:xfrm>
            <a:off x="3019425" y="3286125"/>
            <a:ext cx="219075" cy="219075"/>
          </a:xfrm>
          <a:prstGeom prst="rect">
            <a:avLst/>
          </a:prstGeom>
          <a:solidFill>
            <a:srgbClr val="F26D5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3" name="Dikdörtgen 82">
            <a:extLst>
              <a:ext uri="{FF2B5EF4-FFF2-40B4-BE49-F238E27FC236}">
                <a16:creationId xmlns:a16="http://schemas.microsoft.com/office/drawing/2014/main" id="{489BCC9A-0E72-4C95-9EAC-C68B1491E6CD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4" name="Dikdörtgen 83">
            <a:extLst>
              <a:ext uri="{FF2B5EF4-FFF2-40B4-BE49-F238E27FC236}">
                <a16:creationId xmlns:a16="http://schemas.microsoft.com/office/drawing/2014/main" id="{7E60ADEF-0512-4AD7-8A81-59E6A6C95D33}"/>
              </a:ext>
            </a:extLst>
          </p:cNvPr>
          <p:cNvSpPr>
            <a:spLocks noGrp="1"/>
          </p:cNvSpPr>
          <p:nvPr/>
        </p:nvSpPr>
        <p:spPr>
          <a:xfrm>
            <a:off x="1114425" y="352425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5" name="Dikdörtgen 84">
            <a:extLst>
              <a:ext uri="{FF2B5EF4-FFF2-40B4-BE49-F238E27FC236}">
                <a16:creationId xmlns:a16="http://schemas.microsoft.com/office/drawing/2014/main" id="{6A2B4E46-82B3-4140-B2F6-D621B2BE5F7E}"/>
              </a:ext>
            </a:extLst>
          </p:cNvPr>
          <p:cNvSpPr>
            <a:spLocks noGrp="1"/>
          </p:cNvSpPr>
          <p:nvPr/>
        </p:nvSpPr>
        <p:spPr>
          <a:xfrm>
            <a:off x="1352550" y="35242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25F7D43C-0113-4E10-B6C2-7D58A5720CA5}"/>
              </a:ext>
            </a:extLst>
          </p:cNvPr>
          <p:cNvSpPr>
            <a:spLocks noGrp="1"/>
          </p:cNvSpPr>
          <p:nvPr/>
        </p:nvSpPr>
        <p:spPr>
          <a:xfrm>
            <a:off x="1590675" y="352425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8D1F2057-2B1D-43DB-8C96-40DFE16A47CF}"/>
              </a:ext>
            </a:extLst>
          </p:cNvPr>
          <p:cNvSpPr>
            <a:spLocks noGrp="1"/>
          </p:cNvSpPr>
          <p:nvPr/>
        </p:nvSpPr>
        <p:spPr>
          <a:xfrm>
            <a:off x="1828800" y="35242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8" name="Dikdörtgen 87">
            <a:extLst>
              <a:ext uri="{FF2B5EF4-FFF2-40B4-BE49-F238E27FC236}">
                <a16:creationId xmlns:a16="http://schemas.microsoft.com/office/drawing/2014/main" id="{178EFF49-C02D-42EE-BA27-75091ECFA73D}"/>
              </a:ext>
            </a:extLst>
          </p:cNvPr>
          <p:cNvSpPr>
            <a:spLocks noGrp="1"/>
          </p:cNvSpPr>
          <p:nvPr/>
        </p:nvSpPr>
        <p:spPr>
          <a:xfrm>
            <a:off x="2066925" y="35242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89" name="Dikdörtgen 88">
            <a:extLst>
              <a:ext uri="{FF2B5EF4-FFF2-40B4-BE49-F238E27FC236}">
                <a16:creationId xmlns:a16="http://schemas.microsoft.com/office/drawing/2014/main" id="{BA25F7E2-4F4E-44C1-9F14-63F82E17BF63}"/>
              </a:ext>
            </a:extLst>
          </p:cNvPr>
          <p:cNvSpPr>
            <a:spLocks noGrp="1"/>
          </p:cNvSpPr>
          <p:nvPr/>
        </p:nvSpPr>
        <p:spPr>
          <a:xfrm>
            <a:off x="2305050" y="35242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0" name="Dikdörtgen 89">
            <a:extLst>
              <a:ext uri="{FF2B5EF4-FFF2-40B4-BE49-F238E27FC236}">
                <a16:creationId xmlns:a16="http://schemas.microsoft.com/office/drawing/2014/main" id="{AEBAF7E8-E3D0-4BBD-9797-407DB4F1C0C6}"/>
              </a:ext>
            </a:extLst>
          </p:cNvPr>
          <p:cNvSpPr>
            <a:spLocks noGrp="1"/>
          </p:cNvSpPr>
          <p:nvPr/>
        </p:nvSpPr>
        <p:spPr>
          <a:xfrm>
            <a:off x="2543175" y="352425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1" name="Dikdörtgen 90">
            <a:extLst>
              <a:ext uri="{FF2B5EF4-FFF2-40B4-BE49-F238E27FC236}">
                <a16:creationId xmlns:a16="http://schemas.microsoft.com/office/drawing/2014/main" id="{E8FE039F-F1DA-4DCF-9179-D30D46319537}"/>
              </a:ext>
            </a:extLst>
          </p:cNvPr>
          <p:cNvSpPr>
            <a:spLocks noGrp="1"/>
          </p:cNvSpPr>
          <p:nvPr/>
        </p:nvSpPr>
        <p:spPr>
          <a:xfrm>
            <a:off x="2781300" y="35242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2" name="Dikdörtgen 91">
            <a:extLst>
              <a:ext uri="{FF2B5EF4-FFF2-40B4-BE49-F238E27FC236}">
                <a16:creationId xmlns:a16="http://schemas.microsoft.com/office/drawing/2014/main" id="{2B0A9773-BA3C-4A45-B8B2-99B61A4972E2}"/>
              </a:ext>
            </a:extLst>
          </p:cNvPr>
          <p:cNvSpPr>
            <a:spLocks noGrp="1"/>
          </p:cNvSpPr>
          <p:nvPr/>
        </p:nvSpPr>
        <p:spPr>
          <a:xfrm>
            <a:off x="3019425" y="352425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3" name="Dikdörtgen 92">
            <a:extLst>
              <a:ext uri="{FF2B5EF4-FFF2-40B4-BE49-F238E27FC236}">
                <a16:creationId xmlns:a16="http://schemas.microsoft.com/office/drawing/2014/main" id="{41E10ABE-983A-431B-BE58-CD9E2C5AE57A}"/>
              </a:ext>
            </a:extLst>
          </p:cNvPr>
          <p:cNvSpPr>
            <a:spLocks noGrp="1"/>
          </p:cNvSpPr>
          <p:nvPr/>
        </p:nvSpPr>
        <p:spPr>
          <a:xfrm>
            <a:off x="876300" y="37623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4" name="Dikdörtgen 93">
            <a:extLst>
              <a:ext uri="{FF2B5EF4-FFF2-40B4-BE49-F238E27FC236}">
                <a16:creationId xmlns:a16="http://schemas.microsoft.com/office/drawing/2014/main" id="{A259E676-0087-47B2-A1E2-4D2455F280B3}"/>
              </a:ext>
            </a:extLst>
          </p:cNvPr>
          <p:cNvSpPr>
            <a:spLocks noGrp="1"/>
          </p:cNvSpPr>
          <p:nvPr/>
        </p:nvSpPr>
        <p:spPr>
          <a:xfrm>
            <a:off x="1114425" y="37623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5" name="Dikdörtgen 94">
            <a:extLst>
              <a:ext uri="{FF2B5EF4-FFF2-40B4-BE49-F238E27FC236}">
                <a16:creationId xmlns:a16="http://schemas.microsoft.com/office/drawing/2014/main" id="{8324A977-74CE-4AE3-99EC-D481961885AD}"/>
              </a:ext>
            </a:extLst>
          </p:cNvPr>
          <p:cNvSpPr>
            <a:spLocks noGrp="1"/>
          </p:cNvSpPr>
          <p:nvPr/>
        </p:nvSpPr>
        <p:spPr>
          <a:xfrm>
            <a:off x="1352550" y="37623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6" name="Dikdörtgen 95">
            <a:extLst>
              <a:ext uri="{FF2B5EF4-FFF2-40B4-BE49-F238E27FC236}">
                <a16:creationId xmlns:a16="http://schemas.microsoft.com/office/drawing/2014/main" id="{7AC68CEF-BE3E-4490-9BF5-7364021EBD7B}"/>
              </a:ext>
            </a:extLst>
          </p:cNvPr>
          <p:cNvSpPr>
            <a:spLocks noGrp="1"/>
          </p:cNvSpPr>
          <p:nvPr/>
        </p:nvSpPr>
        <p:spPr>
          <a:xfrm>
            <a:off x="1590675" y="37623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7" name="Dikdörtgen 96">
            <a:extLst>
              <a:ext uri="{FF2B5EF4-FFF2-40B4-BE49-F238E27FC236}">
                <a16:creationId xmlns:a16="http://schemas.microsoft.com/office/drawing/2014/main" id="{B7FEA948-C086-47A0-9BB4-0F5CCCDBB617}"/>
              </a:ext>
            </a:extLst>
          </p:cNvPr>
          <p:cNvSpPr>
            <a:spLocks noGrp="1"/>
          </p:cNvSpPr>
          <p:nvPr/>
        </p:nvSpPr>
        <p:spPr>
          <a:xfrm>
            <a:off x="1828800" y="3762375"/>
            <a:ext cx="219075" cy="219075"/>
          </a:xfrm>
          <a:prstGeom prst="rect">
            <a:avLst/>
          </a:prstGeom>
          <a:solidFill>
            <a:srgbClr val="F26D5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8" name="Dikdörtgen 97">
            <a:extLst>
              <a:ext uri="{FF2B5EF4-FFF2-40B4-BE49-F238E27FC236}">
                <a16:creationId xmlns:a16="http://schemas.microsoft.com/office/drawing/2014/main" id="{DC4E584C-DFF8-4B65-99EC-7777E0C3120C}"/>
              </a:ext>
            </a:extLst>
          </p:cNvPr>
          <p:cNvSpPr>
            <a:spLocks noGrp="1"/>
          </p:cNvSpPr>
          <p:nvPr/>
        </p:nvSpPr>
        <p:spPr>
          <a:xfrm>
            <a:off x="2066925" y="37623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9" name="Dikdörtgen 98">
            <a:extLst>
              <a:ext uri="{FF2B5EF4-FFF2-40B4-BE49-F238E27FC236}">
                <a16:creationId xmlns:a16="http://schemas.microsoft.com/office/drawing/2014/main" id="{2F62FAEC-C731-430F-A8F2-4D614F63CECB}"/>
              </a:ext>
            </a:extLst>
          </p:cNvPr>
          <p:cNvSpPr>
            <a:spLocks noGrp="1"/>
          </p:cNvSpPr>
          <p:nvPr/>
        </p:nvSpPr>
        <p:spPr>
          <a:xfrm>
            <a:off x="2305050" y="37623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0" name="Dikdörtgen 99">
            <a:extLst>
              <a:ext uri="{FF2B5EF4-FFF2-40B4-BE49-F238E27FC236}">
                <a16:creationId xmlns:a16="http://schemas.microsoft.com/office/drawing/2014/main" id="{EE0329C2-806A-4080-AFF8-66ADB4537AFF}"/>
              </a:ext>
            </a:extLst>
          </p:cNvPr>
          <p:cNvSpPr>
            <a:spLocks noGrp="1"/>
          </p:cNvSpPr>
          <p:nvPr/>
        </p:nvSpPr>
        <p:spPr>
          <a:xfrm>
            <a:off x="2543175" y="376237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1" name="Dikdörtgen 100">
            <a:extLst>
              <a:ext uri="{FF2B5EF4-FFF2-40B4-BE49-F238E27FC236}">
                <a16:creationId xmlns:a16="http://schemas.microsoft.com/office/drawing/2014/main" id="{7DD2DBA0-3E3D-4D16-82E8-B51B70B4FADA}"/>
              </a:ext>
            </a:extLst>
          </p:cNvPr>
          <p:cNvSpPr>
            <a:spLocks noGrp="1"/>
          </p:cNvSpPr>
          <p:nvPr/>
        </p:nvSpPr>
        <p:spPr>
          <a:xfrm>
            <a:off x="2781300" y="376237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2" name="Dikdörtgen 101">
            <a:extLst>
              <a:ext uri="{FF2B5EF4-FFF2-40B4-BE49-F238E27FC236}">
                <a16:creationId xmlns:a16="http://schemas.microsoft.com/office/drawing/2014/main" id="{677EF431-C348-4986-96D1-42746B73C123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3" name="Dikdörtgen 102">
            <a:extLst>
              <a:ext uri="{FF2B5EF4-FFF2-40B4-BE49-F238E27FC236}">
                <a16:creationId xmlns:a16="http://schemas.microsoft.com/office/drawing/2014/main" id="{E7E0548C-71BD-4AAF-80B5-6CF97CAD15BF}"/>
              </a:ext>
            </a:extLst>
          </p:cNvPr>
          <p:cNvSpPr>
            <a:spLocks noGrp="1"/>
          </p:cNvSpPr>
          <p:nvPr/>
        </p:nvSpPr>
        <p:spPr>
          <a:xfrm>
            <a:off x="1114425" y="4000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4" name="Dikdörtgen 103">
            <a:extLst>
              <a:ext uri="{FF2B5EF4-FFF2-40B4-BE49-F238E27FC236}">
                <a16:creationId xmlns:a16="http://schemas.microsoft.com/office/drawing/2014/main" id="{2B9AF590-DD40-475A-AE4F-FA1027FAB552}"/>
              </a:ext>
            </a:extLst>
          </p:cNvPr>
          <p:cNvSpPr>
            <a:spLocks noGrp="1"/>
          </p:cNvSpPr>
          <p:nvPr/>
        </p:nvSpPr>
        <p:spPr>
          <a:xfrm>
            <a:off x="1352550" y="4000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5" name="Dikdörtgen 104">
            <a:extLst>
              <a:ext uri="{FF2B5EF4-FFF2-40B4-BE49-F238E27FC236}">
                <a16:creationId xmlns:a16="http://schemas.microsoft.com/office/drawing/2014/main" id="{D8A8681C-6B31-4381-8594-0F573AB6A0D3}"/>
              </a:ext>
            </a:extLst>
          </p:cNvPr>
          <p:cNvSpPr>
            <a:spLocks noGrp="1"/>
          </p:cNvSpPr>
          <p:nvPr/>
        </p:nvSpPr>
        <p:spPr>
          <a:xfrm>
            <a:off x="1590675" y="400050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6" name="Dikdörtgen 105">
            <a:extLst>
              <a:ext uri="{FF2B5EF4-FFF2-40B4-BE49-F238E27FC236}">
                <a16:creationId xmlns:a16="http://schemas.microsoft.com/office/drawing/2014/main" id="{7AD1AC4D-1E0B-453F-82E5-3D1A17AA479F}"/>
              </a:ext>
            </a:extLst>
          </p:cNvPr>
          <p:cNvSpPr>
            <a:spLocks noGrp="1"/>
          </p:cNvSpPr>
          <p:nvPr/>
        </p:nvSpPr>
        <p:spPr>
          <a:xfrm>
            <a:off x="1828800" y="400050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7" name="Dikdörtgen 106">
            <a:extLst>
              <a:ext uri="{FF2B5EF4-FFF2-40B4-BE49-F238E27FC236}">
                <a16:creationId xmlns:a16="http://schemas.microsoft.com/office/drawing/2014/main" id="{7762134D-D6E1-4033-8B60-DCC15A3C3BCE}"/>
              </a:ext>
            </a:extLst>
          </p:cNvPr>
          <p:cNvSpPr>
            <a:spLocks noGrp="1"/>
          </p:cNvSpPr>
          <p:nvPr/>
        </p:nvSpPr>
        <p:spPr>
          <a:xfrm>
            <a:off x="2066925" y="4000500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8" name="Dikdörtgen 107">
            <a:extLst>
              <a:ext uri="{FF2B5EF4-FFF2-40B4-BE49-F238E27FC236}">
                <a16:creationId xmlns:a16="http://schemas.microsoft.com/office/drawing/2014/main" id="{056D5DEF-76FA-480F-A565-FC7F96722ED6}"/>
              </a:ext>
            </a:extLst>
          </p:cNvPr>
          <p:cNvSpPr>
            <a:spLocks noGrp="1"/>
          </p:cNvSpPr>
          <p:nvPr/>
        </p:nvSpPr>
        <p:spPr>
          <a:xfrm>
            <a:off x="2305050" y="4000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09" name="Dikdörtgen 108">
            <a:extLst>
              <a:ext uri="{FF2B5EF4-FFF2-40B4-BE49-F238E27FC236}">
                <a16:creationId xmlns:a16="http://schemas.microsoft.com/office/drawing/2014/main" id="{6CC13E2D-2936-415F-93F3-F305FBF8FA9B}"/>
              </a:ext>
            </a:extLst>
          </p:cNvPr>
          <p:cNvSpPr>
            <a:spLocks noGrp="1"/>
          </p:cNvSpPr>
          <p:nvPr/>
        </p:nvSpPr>
        <p:spPr>
          <a:xfrm>
            <a:off x="2543175" y="4000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0" name="Dikdörtgen 109">
            <a:extLst>
              <a:ext uri="{FF2B5EF4-FFF2-40B4-BE49-F238E27FC236}">
                <a16:creationId xmlns:a16="http://schemas.microsoft.com/office/drawing/2014/main" id="{48355F3F-38B2-4BA0-95AE-CAEB9B523FA1}"/>
              </a:ext>
            </a:extLst>
          </p:cNvPr>
          <p:cNvSpPr>
            <a:spLocks noGrp="1"/>
          </p:cNvSpPr>
          <p:nvPr/>
        </p:nvSpPr>
        <p:spPr>
          <a:xfrm>
            <a:off x="2781300" y="4000500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1" name="Dikdörtgen 110">
            <a:extLst>
              <a:ext uri="{FF2B5EF4-FFF2-40B4-BE49-F238E27FC236}">
                <a16:creationId xmlns:a16="http://schemas.microsoft.com/office/drawing/2014/main" id="{598401F8-2149-455F-BA3B-5D430EFB7BF6}"/>
              </a:ext>
            </a:extLst>
          </p:cNvPr>
          <p:cNvSpPr>
            <a:spLocks noGrp="1"/>
          </p:cNvSpPr>
          <p:nvPr/>
        </p:nvSpPr>
        <p:spPr>
          <a:xfrm>
            <a:off x="3019425" y="4000500"/>
            <a:ext cx="219075" cy="219075"/>
          </a:xfrm>
          <a:prstGeom prst="rect">
            <a:avLst/>
          </a:prstGeom>
          <a:solidFill>
            <a:srgbClr val="F2C66D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2" name="Dikdörtgen 111">
            <a:extLst>
              <a:ext uri="{FF2B5EF4-FFF2-40B4-BE49-F238E27FC236}">
                <a16:creationId xmlns:a16="http://schemas.microsoft.com/office/drawing/2014/main" id="{AE09BBAF-F5FD-4233-8D0E-4D99D8BCE683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3" name="Dikdörtgen 112">
            <a:extLst>
              <a:ext uri="{FF2B5EF4-FFF2-40B4-BE49-F238E27FC236}">
                <a16:creationId xmlns:a16="http://schemas.microsoft.com/office/drawing/2014/main" id="{CCB4CA93-18C0-441A-A610-A038F7D0CA50}"/>
              </a:ext>
            </a:extLst>
          </p:cNvPr>
          <p:cNvSpPr>
            <a:spLocks noGrp="1"/>
          </p:cNvSpPr>
          <p:nvPr/>
        </p:nvSpPr>
        <p:spPr>
          <a:xfrm>
            <a:off x="1114425" y="4238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4" name="Dikdörtgen 113">
            <a:extLst>
              <a:ext uri="{FF2B5EF4-FFF2-40B4-BE49-F238E27FC236}">
                <a16:creationId xmlns:a16="http://schemas.microsoft.com/office/drawing/2014/main" id="{4DFFA491-8456-4895-B031-D55255557AE1}"/>
              </a:ext>
            </a:extLst>
          </p:cNvPr>
          <p:cNvSpPr>
            <a:spLocks noGrp="1"/>
          </p:cNvSpPr>
          <p:nvPr/>
        </p:nvSpPr>
        <p:spPr>
          <a:xfrm>
            <a:off x="1352550" y="4238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5" name="Dikdörtgen 114">
            <a:extLst>
              <a:ext uri="{FF2B5EF4-FFF2-40B4-BE49-F238E27FC236}">
                <a16:creationId xmlns:a16="http://schemas.microsoft.com/office/drawing/2014/main" id="{8361BD26-1B48-45D6-A28A-22C7EDFF976F}"/>
              </a:ext>
            </a:extLst>
          </p:cNvPr>
          <p:cNvSpPr>
            <a:spLocks noGrp="1"/>
          </p:cNvSpPr>
          <p:nvPr/>
        </p:nvSpPr>
        <p:spPr>
          <a:xfrm>
            <a:off x="1590675" y="4238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6" name="Dikdörtgen 115">
            <a:extLst>
              <a:ext uri="{FF2B5EF4-FFF2-40B4-BE49-F238E27FC236}">
                <a16:creationId xmlns:a16="http://schemas.microsoft.com/office/drawing/2014/main" id="{3DC73725-C2A3-4CD2-A933-45BB05D26C2D}"/>
              </a:ext>
            </a:extLst>
          </p:cNvPr>
          <p:cNvSpPr>
            <a:spLocks noGrp="1"/>
          </p:cNvSpPr>
          <p:nvPr/>
        </p:nvSpPr>
        <p:spPr>
          <a:xfrm>
            <a:off x="1828800" y="4238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7" name="Dikdörtgen 116">
            <a:extLst>
              <a:ext uri="{FF2B5EF4-FFF2-40B4-BE49-F238E27FC236}">
                <a16:creationId xmlns:a16="http://schemas.microsoft.com/office/drawing/2014/main" id="{50214B70-D46E-44A1-BBD8-16E569BBFC5A}"/>
              </a:ext>
            </a:extLst>
          </p:cNvPr>
          <p:cNvSpPr>
            <a:spLocks noGrp="1"/>
          </p:cNvSpPr>
          <p:nvPr/>
        </p:nvSpPr>
        <p:spPr>
          <a:xfrm>
            <a:off x="2066925" y="4238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8" name="Dikdörtgen 117">
            <a:extLst>
              <a:ext uri="{FF2B5EF4-FFF2-40B4-BE49-F238E27FC236}">
                <a16:creationId xmlns:a16="http://schemas.microsoft.com/office/drawing/2014/main" id="{BC8D073F-FEC0-484F-A91A-EC6199CE48D9}"/>
              </a:ext>
            </a:extLst>
          </p:cNvPr>
          <p:cNvSpPr>
            <a:spLocks noGrp="1"/>
          </p:cNvSpPr>
          <p:nvPr/>
        </p:nvSpPr>
        <p:spPr>
          <a:xfrm>
            <a:off x="2305050" y="4238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9" name="Dikdörtgen 118">
            <a:extLst>
              <a:ext uri="{FF2B5EF4-FFF2-40B4-BE49-F238E27FC236}">
                <a16:creationId xmlns:a16="http://schemas.microsoft.com/office/drawing/2014/main" id="{4E6378D6-1A89-4C7B-AB95-1C7A61080815}"/>
              </a:ext>
            </a:extLst>
          </p:cNvPr>
          <p:cNvSpPr>
            <a:spLocks noGrp="1"/>
          </p:cNvSpPr>
          <p:nvPr/>
        </p:nvSpPr>
        <p:spPr>
          <a:xfrm>
            <a:off x="2543175" y="4238625"/>
            <a:ext cx="219075" cy="219075"/>
          </a:xfrm>
          <a:prstGeom prst="rect">
            <a:avLst/>
          </a:prstGeom>
          <a:solidFill>
            <a:srgbClr val="D7F1EE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20" name="Dikdörtgen 119">
            <a:extLst>
              <a:ext uri="{FF2B5EF4-FFF2-40B4-BE49-F238E27FC236}">
                <a16:creationId xmlns:a16="http://schemas.microsoft.com/office/drawing/2014/main" id="{23F560FA-BA23-45CE-851F-EF329CE9191C}"/>
              </a:ext>
            </a:extLst>
          </p:cNvPr>
          <p:cNvSpPr>
            <a:spLocks noGrp="1"/>
          </p:cNvSpPr>
          <p:nvPr/>
        </p:nvSpPr>
        <p:spPr>
          <a:xfrm>
            <a:off x="2781300" y="4238625"/>
            <a:ext cx="219075" cy="219075"/>
          </a:xfrm>
          <a:prstGeom prst="rect">
            <a:avLst/>
          </a:prstGeom>
          <a:solidFill>
            <a:srgbClr val="062A3A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6B32B1AF-A70E-4634-87C5-5F4147295151}"/>
              </a:ext>
            </a:extLst>
          </p:cNvPr>
          <p:cNvSpPr>
            <a:spLocks noGrp="1"/>
          </p:cNvSpPr>
          <p:nvPr/>
        </p:nvSpPr>
        <p:spPr>
          <a:xfrm>
            <a:off x="3019425" y="4238625"/>
            <a:ext cx="219075" cy="219075"/>
          </a:xfrm>
          <a:prstGeom prst="rect">
            <a:avLst/>
          </a:prstGeom>
          <a:solidFill>
            <a:srgbClr val="2D8B65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CCD500D9-AD52-4798-AC5D-26178CA1585B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Ada haritasının grid karşılığı</a:t>
            </a: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8D32DD03-8CBF-4AD4-B0C2-7FCBA4232FD6}"/>
              </a:ext>
            </a:extLst>
          </p:cNvPr>
          <p:cNvSpPr>
            <a:spLocks noGrp="1"/>
          </p:cNvSpPr>
          <p:nvPr/>
        </p:nvSpPr>
        <p:spPr>
          <a:xfrm>
            <a:off x="5238750" y="1952625"/>
            <a:ext cx="5334000" cy="4762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124" name="Dikdörtgen 123">
            <a:extLst>
              <a:ext uri="{FF2B5EF4-FFF2-40B4-BE49-F238E27FC236}">
                <a16:creationId xmlns:a16="http://schemas.microsoft.com/office/drawing/2014/main" id="{F2B0402C-2576-4839-99FC-8ED88A1ED496}"/>
              </a:ext>
            </a:extLst>
          </p:cNvPr>
          <p:cNvSpPr>
            <a:spLocks noGrp="1"/>
          </p:cNvSpPr>
          <p:nvPr/>
        </p:nvSpPr>
        <p:spPr>
          <a:xfrm>
            <a:off x="5448300" y="2085975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960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960B8"/>
                </a:solidFill>
                <a:latin typeface="Aptos"/>
                <a:ea typeface="Aptos"/>
                <a:cs typeface="Aptos"/>
              </a:rPr>
              <a:t>Başlangıç</a:t>
            </a:r>
          </a:p>
        </p:txBody>
      </p:sp>
      <p:sp>
        <p:nvSpPr>
          <p:cNvPr id="125" name="Dikdörtgen 124">
            <a:extLst>
              <a:ext uri="{FF2B5EF4-FFF2-40B4-BE49-F238E27FC236}">
                <a16:creationId xmlns:a16="http://schemas.microsoft.com/office/drawing/2014/main" id="{44235C1E-3523-4036-A88D-7580AE713626}"/>
              </a:ext>
            </a:extLst>
          </p:cNvPr>
          <p:cNvSpPr>
            <a:spLocks noGrp="1"/>
          </p:cNvSpPr>
          <p:nvPr/>
        </p:nvSpPr>
        <p:spPr>
          <a:xfrm>
            <a:off x="7086600" y="208597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S hücresi + boş maske</a:t>
            </a:r>
          </a:p>
        </p:txBody>
      </p:sp>
      <p:sp>
        <p:nvSpPr>
          <p:cNvPr id="126" name="Dikdörtgen 125">
            <a:extLst>
              <a:ext uri="{FF2B5EF4-FFF2-40B4-BE49-F238E27FC236}">
                <a16:creationId xmlns:a16="http://schemas.microsoft.com/office/drawing/2014/main" id="{5DEEC0F8-682D-4C74-83D1-8C72DD8F0F07}"/>
              </a:ext>
            </a:extLst>
          </p:cNvPr>
          <p:cNvSpPr>
            <a:spLocks noGrp="1"/>
          </p:cNvSpPr>
          <p:nvPr/>
        </p:nvSpPr>
        <p:spPr>
          <a:xfrm>
            <a:off x="5238750" y="2600325"/>
            <a:ext cx="5334000" cy="476250"/>
          </a:xfrm>
          <a:prstGeom prst="rect">
            <a:avLst/>
          </a:prstGeom>
          <a:solidFill>
            <a:srgbClr val="EAF8F6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127" name="Dikdörtgen 126">
            <a:extLst>
              <a:ext uri="{FF2B5EF4-FFF2-40B4-BE49-F238E27FC236}">
                <a16:creationId xmlns:a16="http://schemas.microsoft.com/office/drawing/2014/main" id="{2F9CC8A0-7FD9-4791-9398-5ECB5BC4BD80}"/>
              </a:ext>
            </a:extLst>
          </p:cNvPr>
          <p:cNvSpPr>
            <a:spLocks noGrp="1"/>
          </p:cNvSpPr>
          <p:nvPr/>
        </p:nvSpPr>
        <p:spPr>
          <a:xfrm>
            <a:off x="5448300" y="2733675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960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960B8"/>
                </a:solidFill>
                <a:latin typeface="Aptos"/>
                <a:ea typeface="Aptos"/>
                <a:cs typeface="Aptos"/>
              </a:rPr>
              <a:t>Hedef</a:t>
            </a:r>
          </a:p>
        </p:txBody>
      </p:sp>
      <p:sp>
        <p:nvSpPr>
          <p:cNvPr id="128" name="Dikdörtgen 127">
            <a:extLst>
              <a:ext uri="{FF2B5EF4-FFF2-40B4-BE49-F238E27FC236}">
                <a16:creationId xmlns:a16="http://schemas.microsoft.com/office/drawing/2014/main" id="{58F2F045-2DC3-4EB8-A7C4-B3778BD93CFB}"/>
              </a:ext>
            </a:extLst>
          </p:cNvPr>
          <p:cNvSpPr>
            <a:spLocks noGrp="1"/>
          </p:cNvSpPr>
          <p:nvPr/>
        </p:nvSpPr>
        <p:spPr>
          <a:xfrm>
            <a:off x="7086600" y="273367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Tüm P hücreleri + H</a:t>
            </a:r>
          </a:p>
        </p:txBody>
      </p:sp>
      <p:sp>
        <p:nvSpPr>
          <p:cNvPr id="129" name="Dikdörtgen 128">
            <a:extLst>
              <a:ext uri="{FF2B5EF4-FFF2-40B4-BE49-F238E27FC236}">
                <a16:creationId xmlns:a16="http://schemas.microsoft.com/office/drawing/2014/main" id="{9D3B2B2F-FC08-4B50-84F2-5151E482283B}"/>
              </a:ext>
            </a:extLst>
          </p:cNvPr>
          <p:cNvSpPr>
            <a:spLocks noGrp="1"/>
          </p:cNvSpPr>
          <p:nvPr/>
        </p:nvSpPr>
        <p:spPr>
          <a:xfrm>
            <a:off x="5238750" y="3248025"/>
            <a:ext cx="5334000" cy="4762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130" name="Dikdörtgen 129">
            <a:extLst>
              <a:ext uri="{FF2B5EF4-FFF2-40B4-BE49-F238E27FC236}">
                <a16:creationId xmlns:a16="http://schemas.microsoft.com/office/drawing/2014/main" id="{E56433F8-2A6F-4A53-A44A-92255DA58B2F}"/>
              </a:ext>
            </a:extLst>
          </p:cNvPr>
          <p:cNvSpPr>
            <a:spLocks noGrp="1"/>
          </p:cNvSpPr>
          <p:nvPr/>
        </p:nvSpPr>
        <p:spPr>
          <a:xfrm>
            <a:off x="5448300" y="3381375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960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960B8"/>
                </a:solidFill>
                <a:latin typeface="Aptos"/>
                <a:ea typeface="Aptos"/>
                <a:cs typeface="Aptos"/>
              </a:rPr>
              <a:t>Durum</a:t>
            </a:r>
          </a:p>
        </p:txBody>
      </p:sp>
      <p:sp>
        <p:nvSpPr>
          <p:cNvPr id="131" name="Dikdörtgen 130">
            <a:extLst>
              <a:ext uri="{FF2B5EF4-FFF2-40B4-BE49-F238E27FC236}">
                <a16:creationId xmlns:a16="http://schemas.microsoft.com/office/drawing/2014/main" id="{815B51FC-448A-41F2-BCE8-9FE3DAB561C4}"/>
              </a:ext>
            </a:extLst>
          </p:cNvPr>
          <p:cNvSpPr>
            <a:spLocks noGrp="1"/>
          </p:cNvSpPr>
          <p:nvPr/>
        </p:nvSpPr>
        <p:spPr>
          <a:xfrm>
            <a:off x="7086600" y="338137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(satır, sütun, maske)</a:t>
            </a:r>
          </a:p>
        </p:txBody>
      </p:sp>
      <p:sp>
        <p:nvSpPr>
          <p:cNvPr id="132" name="Dikdörtgen 131">
            <a:extLst>
              <a:ext uri="{FF2B5EF4-FFF2-40B4-BE49-F238E27FC236}">
                <a16:creationId xmlns:a16="http://schemas.microsoft.com/office/drawing/2014/main" id="{081D6440-C606-452C-AB94-08A3BDBC9C89}"/>
              </a:ext>
            </a:extLst>
          </p:cNvPr>
          <p:cNvSpPr>
            <a:spLocks noGrp="1"/>
          </p:cNvSpPr>
          <p:nvPr/>
        </p:nvSpPr>
        <p:spPr>
          <a:xfrm>
            <a:off x="5238750" y="3895725"/>
            <a:ext cx="5334000" cy="476250"/>
          </a:xfrm>
          <a:prstGeom prst="rect">
            <a:avLst/>
          </a:prstGeom>
          <a:solidFill>
            <a:srgbClr val="EAF8F6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133" name="Dikdörtgen 132">
            <a:extLst>
              <a:ext uri="{FF2B5EF4-FFF2-40B4-BE49-F238E27FC236}">
                <a16:creationId xmlns:a16="http://schemas.microsoft.com/office/drawing/2014/main" id="{A0C90D53-955F-46B1-82C5-704CFA174EA1}"/>
              </a:ext>
            </a:extLst>
          </p:cNvPr>
          <p:cNvSpPr>
            <a:spLocks noGrp="1"/>
          </p:cNvSpPr>
          <p:nvPr/>
        </p:nvSpPr>
        <p:spPr>
          <a:xfrm>
            <a:off x="5448300" y="4029075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960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960B8"/>
                </a:solidFill>
                <a:latin typeface="Aptos"/>
                <a:ea typeface="Aptos"/>
                <a:cs typeface="Aptos"/>
              </a:rPr>
              <a:t>Eylem</a:t>
            </a:r>
          </a:p>
        </p:txBody>
      </p:sp>
      <p:sp>
        <p:nvSpPr>
          <p:cNvPr id="134" name="Dikdörtgen 133">
            <a:extLst>
              <a:ext uri="{FF2B5EF4-FFF2-40B4-BE49-F238E27FC236}">
                <a16:creationId xmlns:a16="http://schemas.microsoft.com/office/drawing/2014/main" id="{414918FB-1142-423D-B1E6-8253C444FFD4}"/>
              </a:ext>
            </a:extLst>
          </p:cNvPr>
          <p:cNvSpPr>
            <a:spLocks noGrp="1"/>
          </p:cNvSpPr>
          <p:nvPr/>
        </p:nvSpPr>
        <p:spPr>
          <a:xfrm>
            <a:off x="7086600" y="402907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Yukarı, aşağı, sol, sağ</a:t>
            </a:r>
          </a:p>
        </p:txBody>
      </p:sp>
      <p:sp>
        <p:nvSpPr>
          <p:cNvPr id="135" name="Dikdörtgen 134">
            <a:extLst>
              <a:ext uri="{FF2B5EF4-FFF2-40B4-BE49-F238E27FC236}">
                <a16:creationId xmlns:a16="http://schemas.microsoft.com/office/drawing/2014/main" id="{17C28DAF-8664-4823-8CF2-A8A77A8B895B}"/>
              </a:ext>
            </a:extLst>
          </p:cNvPr>
          <p:cNvSpPr>
            <a:spLocks noGrp="1"/>
          </p:cNvSpPr>
          <p:nvPr/>
        </p:nvSpPr>
        <p:spPr>
          <a:xfrm>
            <a:off x="5238750" y="4543425"/>
            <a:ext cx="5334000" cy="4762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136" name="Dikdörtgen 135">
            <a:extLst>
              <a:ext uri="{FF2B5EF4-FFF2-40B4-BE49-F238E27FC236}">
                <a16:creationId xmlns:a16="http://schemas.microsoft.com/office/drawing/2014/main" id="{BF9A4972-8D59-4BB5-98F5-7D145E869E21}"/>
              </a:ext>
            </a:extLst>
          </p:cNvPr>
          <p:cNvSpPr>
            <a:spLocks noGrp="1"/>
          </p:cNvSpPr>
          <p:nvPr/>
        </p:nvSpPr>
        <p:spPr>
          <a:xfrm>
            <a:off x="5448300" y="4676775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960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960B8"/>
                </a:solidFill>
                <a:latin typeface="Aptos"/>
                <a:ea typeface="Aptos"/>
                <a:cs typeface="Aptos"/>
              </a:rPr>
              <a:t>Kısıt</a:t>
            </a:r>
          </a:p>
        </p:txBody>
      </p:sp>
      <p:sp>
        <p:nvSpPr>
          <p:cNvPr id="137" name="Dikdörtgen 136">
            <a:extLst>
              <a:ext uri="{FF2B5EF4-FFF2-40B4-BE49-F238E27FC236}">
                <a16:creationId xmlns:a16="http://schemas.microsoft.com/office/drawing/2014/main" id="{A4DC96AB-099C-42E8-88ED-B93E6720034B}"/>
              </a:ext>
            </a:extLst>
          </p:cNvPr>
          <p:cNvSpPr>
            <a:spLocks noGrp="1"/>
          </p:cNvSpPr>
          <p:nvPr/>
        </p:nvSpPr>
        <p:spPr>
          <a:xfrm>
            <a:off x="7086600" y="467677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# hücresi geçilemez</a:t>
            </a:r>
          </a:p>
        </p:txBody>
      </p:sp>
      <p:sp>
        <p:nvSpPr>
          <p:cNvPr id="138" name="Dikdörtgen 137">
            <a:extLst>
              <a:ext uri="{FF2B5EF4-FFF2-40B4-BE49-F238E27FC236}">
                <a16:creationId xmlns:a16="http://schemas.microsoft.com/office/drawing/2014/main" id="{9E86F559-C3AE-467B-B608-2ED8287FF79C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139" name="Dikdörtgen 138">
            <a:extLst>
              <a:ext uri="{FF2B5EF4-FFF2-40B4-BE49-F238E27FC236}">
                <a16:creationId xmlns:a16="http://schemas.microsoft.com/office/drawing/2014/main" id="{EE76F5E0-EAF5-48BA-B9B9-EB28DB2BA706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214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Dikdörtgen 54">
            <a:extLst>
              <a:ext uri="{FF2B5EF4-FFF2-40B4-BE49-F238E27FC236}">
                <a16:creationId xmlns:a16="http://schemas.microsoft.com/office/drawing/2014/main" id="{B0E1F98F-8AEF-4254-B4BB-458126B758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5618F9E-8226-4DFA-B1A0-D6CBFE3DBB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F26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DA9D1840-56D1-4C63-A11D-CE37FDF22EAC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57C580D-6E7C-4199-8E08-09D9B0E13334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AA3F2CD-B63E-41F5-A721-04447CD5C173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16B99E2E-811E-40DF-9322-D70DC51A5697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50ED3A2-397C-481C-847A-75FA790E9D56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C1106E3-F7B5-48DF-B314-3AE52E27DB2B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70A6BA2-895F-4D37-927C-EC2AA7F0FF58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AF0AD40-2086-48F3-B5AE-F10A9E34B2E5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1979483-B70F-4BB8-9FE8-85B5D9051A32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C8C415D-C088-436A-8858-0C49E5B76643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A99CB38-36B4-4E3B-B8CB-3525F3221415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20F70D23-50B9-46D8-81DE-41E0DFF3AB59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C087FA9-2953-49FB-B285-8039BC8053D2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DFBE53B-C178-4281-B1EC-1AB5717BA0B5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C1CBB58F-F472-449F-94F5-E8F3DA984CE2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0DF66D6-BED6-4BF3-AE93-CA82F2549ED8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C54CC355-AA72-46D1-B494-14A04003AF9D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F26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FE30978A-4472-4F43-AE17-D8EE469A76CC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MALIYET MODELI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7709A168-67E3-4983-84BA-CBED19CF275E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Ada zemini rota kararını değiştirir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1239B9D2-EB0B-481C-B805-4E3E43D75C3D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Deniz temalı hücreler A* algoritmasının g(n) değerini doğrudan etkiler.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5437DAAC-AAA5-4316-A5B7-F20E3E3D4B70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2819400" cy="10287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F6F860A6-957D-4C74-A1E2-9789ACC2B4BF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571500" cy="571500"/>
          </a:xfrm>
          <a:prstGeom prst="rect">
            <a:avLst/>
          </a:prstGeom>
          <a:solidFill>
            <a:srgbClr val="37D7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15CEDEA4-8D3F-44F1-B7BB-07C22DDAA2EE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C166FF4F-58AD-4681-B1E7-DCA4489867B3}"/>
              </a:ext>
            </a:extLst>
          </p:cNvPr>
          <p:cNvSpPr>
            <a:spLocks noGrp="1"/>
          </p:cNvSpPr>
          <p:nvPr/>
        </p:nvSpPr>
        <p:spPr>
          <a:xfrm>
            <a:off x="1847850" y="22955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Demir Yeri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1DDC2012-EFA8-4743-AE2D-B7EA9CC9C984}"/>
              </a:ext>
            </a:extLst>
          </p:cNvPr>
          <p:cNvSpPr>
            <a:spLocks noGrp="1"/>
          </p:cNvSpPr>
          <p:nvPr/>
        </p:nvSpPr>
        <p:spPr>
          <a:xfrm>
            <a:off x="1847850" y="26003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Maliyet: 1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C4273AD7-2C9B-4AE1-A71D-7682B75FB08B}"/>
              </a:ext>
            </a:extLst>
          </p:cNvPr>
          <p:cNvSpPr>
            <a:spLocks noGrp="1"/>
          </p:cNvSpPr>
          <p:nvPr/>
        </p:nvSpPr>
        <p:spPr>
          <a:xfrm>
            <a:off x="4286250" y="2047875"/>
            <a:ext cx="2819400" cy="10287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1C012BEC-DC7A-4974-9E83-F1321DD7A2B8}"/>
              </a:ext>
            </a:extLst>
          </p:cNvPr>
          <p:cNvSpPr>
            <a:spLocks noGrp="1"/>
          </p:cNvSpPr>
          <p:nvPr/>
        </p:nvSpPr>
        <p:spPr>
          <a:xfrm>
            <a:off x="4495800" y="2276475"/>
            <a:ext cx="571500" cy="571500"/>
          </a:xfrm>
          <a:prstGeom prst="rect">
            <a:avLst/>
          </a:prstGeom>
          <a:solidFill>
            <a:srgbClr val="F2C6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2074B0F7-5ED8-4962-BC28-60FEB5200DF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BAFFC592-4389-495D-A57A-7BA7C52062C7}"/>
              </a:ext>
            </a:extLst>
          </p:cNvPr>
          <p:cNvSpPr>
            <a:spLocks noGrp="1"/>
          </p:cNvSpPr>
          <p:nvPr/>
        </p:nvSpPr>
        <p:spPr>
          <a:xfrm>
            <a:off x="5276850" y="22955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Hazine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768EB1A4-69A3-4685-8A96-B25B9702ECB1}"/>
              </a:ext>
            </a:extLst>
          </p:cNvPr>
          <p:cNvSpPr>
            <a:spLocks noGrp="1"/>
          </p:cNvSpPr>
          <p:nvPr/>
        </p:nvSpPr>
        <p:spPr>
          <a:xfrm>
            <a:off x="5276850" y="26003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Maliyet: 1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AE9A13B0-9F38-48E4-A9D3-FCFECAD55C41}"/>
              </a:ext>
            </a:extLst>
          </p:cNvPr>
          <p:cNvSpPr>
            <a:spLocks noGrp="1"/>
          </p:cNvSpPr>
          <p:nvPr/>
        </p:nvSpPr>
        <p:spPr>
          <a:xfrm>
            <a:off x="7715250" y="2047875"/>
            <a:ext cx="2819400" cy="10287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CA038110-E086-4FDD-9EF4-060EDEF1E759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571500" cy="57150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1A8079B6-6EFA-4BAC-8DF3-ED2D0A7C8C98}"/>
              </a:ext>
            </a:extLst>
          </p:cNvPr>
          <p:cNvSpPr>
            <a:spLocks noGrp="1"/>
          </p:cNvSpPr>
          <p:nvPr/>
        </p:nvSpPr>
        <p:spPr>
          <a:xfrm>
            <a:off x="7924800" y="238125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07150471-ECFC-4CB2-8D47-78142E95D085}"/>
              </a:ext>
            </a:extLst>
          </p:cNvPr>
          <p:cNvSpPr>
            <a:spLocks noGrp="1"/>
          </p:cNvSpPr>
          <p:nvPr/>
        </p:nvSpPr>
        <p:spPr>
          <a:xfrm>
            <a:off x="8705850" y="22955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Kale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6E641E22-2C32-4AE5-BDE0-72B4944B05A9}"/>
              </a:ext>
            </a:extLst>
          </p:cNvPr>
          <p:cNvSpPr>
            <a:spLocks noGrp="1"/>
          </p:cNvSpPr>
          <p:nvPr/>
        </p:nvSpPr>
        <p:spPr>
          <a:xfrm>
            <a:off x="8705850" y="26003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Maliyet: 1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3D219BD1-E983-4180-9E35-D23D757AE812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2819400" cy="10287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FDB2730B-5DA3-40BF-A1D6-A06934958063}"/>
              </a:ext>
            </a:extLst>
          </p:cNvPr>
          <p:cNvSpPr>
            <a:spLocks noGrp="1"/>
          </p:cNvSpPr>
          <p:nvPr/>
        </p:nvSpPr>
        <p:spPr>
          <a:xfrm>
            <a:off x="1066800" y="3705225"/>
            <a:ext cx="571500" cy="571500"/>
          </a:xfrm>
          <a:prstGeom prst="rect">
            <a:avLst/>
          </a:prstGeom>
          <a:solidFill>
            <a:srgbClr val="F26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43E926A9-8DF4-409E-A468-87936E036485}"/>
              </a:ext>
            </a:extLst>
          </p:cNvPr>
          <p:cNvSpPr>
            <a:spLocks noGrp="1"/>
          </p:cNvSpPr>
          <p:nvPr/>
        </p:nvSpPr>
        <p:spPr>
          <a:xfrm>
            <a:off x="1066800" y="381000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53353DEC-64BB-48DA-8D25-5263CC4A5EFF}"/>
              </a:ext>
            </a:extLst>
          </p:cNvPr>
          <p:cNvSpPr>
            <a:spLocks noGrp="1"/>
          </p:cNvSpPr>
          <p:nvPr/>
        </p:nvSpPr>
        <p:spPr>
          <a:xfrm>
            <a:off x="1847850" y="37242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Top Mevzisi</a:t>
            </a: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8B82F3A1-64F0-43EE-B265-C8D65FDE9B73}"/>
              </a:ext>
            </a:extLst>
          </p:cNvPr>
          <p:cNvSpPr>
            <a:spLocks noGrp="1"/>
          </p:cNvSpPr>
          <p:nvPr/>
        </p:nvSpPr>
        <p:spPr>
          <a:xfrm>
            <a:off x="1847850" y="40290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Maliyet: 4</a:t>
            </a: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DBE2F940-B555-44F5-9B79-14CA6D5911B4}"/>
              </a:ext>
            </a:extLst>
          </p:cNvPr>
          <p:cNvSpPr>
            <a:spLocks noGrp="1"/>
          </p:cNvSpPr>
          <p:nvPr/>
        </p:nvSpPr>
        <p:spPr>
          <a:xfrm>
            <a:off x="4286250" y="3476625"/>
            <a:ext cx="2819400" cy="10287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2423F687-9439-4E8A-8439-284FB6B59C9D}"/>
              </a:ext>
            </a:extLst>
          </p:cNvPr>
          <p:cNvSpPr>
            <a:spLocks noGrp="1"/>
          </p:cNvSpPr>
          <p:nvPr/>
        </p:nvSpPr>
        <p:spPr>
          <a:xfrm>
            <a:off x="4495800" y="3705225"/>
            <a:ext cx="571500" cy="571500"/>
          </a:xfrm>
          <a:prstGeom prst="rect">
            <a:avLst/>
          </a:prstGeom>
          <a:solidFill>
            <a:srgbClr val="5960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F3127D68-B642-4C6C-B38A-2BF2E0E003DE}"/>
              </a:ext>
            </a:extLst>
          </p:cNvPr>
          <p:cNvSpPr>
            <a:spLocks noGrp="1"/>
          </p:cNvSpPr>
          <p:nvPr/>
        </p:nvSpPr>
        <p:spPr>
          <a:xfrm>
            <a:off x="4495800" y="381000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A497BEB6-1E20-40BC-A93C-8EA72824440D}"/>
              </a:ext>
            </a:extLst>
          </p:cNvPr>
          <p:cNvSpPr>
            <a:spLocks noGrp="1"/>
          </p:cNvSpPr>
          <p:nvPr/>
        </p:nvSpPr>
        <p:spPr>
          <a:xfrm>
            <a:off x="5276850" y="37242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Batık Gemi</a:t>
            </a:r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6713005F-7E8B-4C30-8781-63922906ABFB}"/>
              </a:ext>
            </a:extLst>
          </p:cNvPr>
          <p:cNvSpPr>
            <a:spLocks noGrp="1"/>
          </p:cNvSpPr>
          <p:nvPr/>
        </p:nvSpPr>
        <p:spPr>
          <a:xfrm>
            <a:off x="5276850" y="40290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Maliyet: 6</a:t>
            </a: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B4DC01E1-9C9F-4C10-9422-E7D6FF192C1A}"/>
              </a:ext>
            </a:extLst>
          </p:cNvPr>
          <p:cNvSpPr>
            <a:spLocks noGrp="1"/>
          </p:cNvSpPr>
          <p:nvPr/>
        </p:nvSpPr>
        <p:spPr>
          <a:xfrm>
            <a:off x="7715250" y="3476625"/>
            <a:ext cx="2819400" cy="10287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C57E00AB-49CE-4AB0-B57B-3684D371D8EF}"/>
              </a:ext>
            </a:extLst>
          </p:cNvPr>
          <p:cNvSpPr>
            <a:spLocks noGrp="1"/>
          </p:cNvSpPr>
          <p:nvPr/>
        </p:nvSpPr>
        <p:spPr>
          <a:xfrm>
            <a:off x="7924800" y="3705225"/>
            <a:ext cx="571500" cy="571500"/>
          </a:xfrm>
          <a:prstGeom prst="rect">
            <a:avLst/>
          </a:prstGeom>
          <a:solidFill>
            <a:srgbClr val="062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5FF44458-ECC4-451C-A1A6-CA50EA0CD4B6}"/>
              </a:ext>
            </a:extLst>
          </p:cNvPr>
          <p:cNvSpPr>
            <a:spLocks noGrp="1"/>
          </p:cNvSpPr>
          <p:nvPr/>
        </p:nvSpPr>
        <p:spPr>
          <a:xfrm>
            <a:off x="7924800" y="3810000"/>
            <a:ext cx="57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EB5F6881-4082-4F2B-8927-D9D4B1D463B8}"/>
              </a:ext>
            </a:extLst>
          </p:cNvPr>
          <p:cNvSpPr>
            <a:spLocks noGrp="1"/>
          </p:cNvSpPr>
          <p:nvPr/>
        </p:nvSpPr>
        <p:spPr>
          <a:xfrm>
            <a:off x="8705850" y="37242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Kaya</a:t>
            </a:r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4557E3B6-E74F-4BA0-9156-AE7D7F89610A}"/>
              </a:ext>
            </a:extLst>
          </p:cNvPr>
          <p:cNvSpPr>
            <a:spLocks noGrp="1"/>
          </p:cNvSpPr>
          <p:nvPr/>
        </p:nvSpPr>
        <p:spPr>
          <a:xfrm>
            <a:off x="8705850" y="40290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Maliyet: Geçilemez</a:t>
            </a:r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052C83AF-61AA-4E03-8E80-4ABF05E5BBA1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C1E250EC-2F69-4C61-8FAB-8C83D9B79556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036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ikdörtgen 39">
            <a:extLst>
              <a:ext uri="{FF2B5EF4-FFF2-40B4-BE49-F238E27FC236}">
                <a16:creationId xmlns:a16="http://schemas.microsoft.com/office/drawing/2014/main" id="{80846A9C-4429-4A21-895E-88FDD28ABE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2180F4E-77B1-4C62-9C15-B4E264023A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419CEB25-B16C-4E34-AFBA-98908A0FEA23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3842153-3CDD-4596-BA02-349F23C0A6BB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B62C2D2-ACCD-4994-8648-B79980A61BA2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ABA9C68D-295F-4D70-9F84-ED540DFCBF1F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8D77C8D-EC8F-4F84-95B2-C049B756CC30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CD40BF0-C7A7-48AB-9654-9705FEC3B8CA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729DB782-D029-479D-B1E3-B2036ACD6335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6B51A3A-648B-4711-8E84-BD4420F3F701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38978F4-27EF-49F4-8BF2-8590E13605FE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1370707-F3E0-49E8-8AD0-6BA1F4ED0EB0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8642822-B00D-4F2B-963D-5910D4D5D831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973B3501-1244-46A2-981E-8BDFE82107CC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4399559-4D76-42FA-9DAE-195F7D0BD7B1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F75D3016-E63A-482E-980F-76B0980952EB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783AEF2-8631-4C55-A921-BA4D339D9F73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34BF2617-07B5-4ED0-B802-2A9BAA9295E2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5DD3E675-E6F6-44C8-B165-A99D5F3147CA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981D0E0-53B0-4ECF-844D-6BE23D7573C1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8B6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65"/>
                </a:solidFill>
                <a:latin typeface="Aptos"/>
                <a:ea typeface="Aptos"/>
                <a:cs typeface="Aptos"/>
              </a:rPr>
              <a:t>A* ALGORITMASI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1239908C-BACE-4BD8-BDFD-27246DE2B6F0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Gerçek maliyet + sezgisel tahmin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F8611168-4C58-405E-B7DD-F13806C87817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Düşük maliyetli rota, hazine ve kale hedefleri birlikte değerlendirilerek seçilir.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5CB8E15C-C14B-47E0-A6DB-C20CA1CA42F2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4362450" cy="15240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9EEC0E0F-9542-4B18-8DF3-550691844A64}"/>
              </a:ext>
            </a:extLst>
          </p:cNvPr>
          <p:cNvSpPr>
            <a:spLocks noGrp="1"/>
          </p:cNvSpPr>
          <p:nvPr/>
        </p:nvSpPr>
        <p:spPr>
          <a:xfrm>
            <a:off x="1181100" y="2552700"/>
            <a:ext cx="37623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92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f(n) = g(n) + h(n)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F5ECD08C-C1FD-4A12-AFC8-1846F35019E2}"/>
              </a:ext>
            </a:extLst>
          </p:cNvPr>
          <p:cNvSpPr>
            <a:spLocks noGrp="1"/>
          </p:cNvSpPr>
          <p:nvPr/>
        </p:nvSpPr>
        <p:spPr>
          <a:xfrm>
            <a:off x="1181100" y="3181350"/>
            <a:ext cx="37623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g(n): gerçek rota maliyeti</a:t>
            </a:r>
          </a:p>
          <a:p>
            <a:pPr algn="ctr">
              <a:defRPr sz="1125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h(n): kalan hazine + kale için Manhattan tahmini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49F4880C-66DB-4EF7-BC06-5E5C1CE5149E}"/>
              </a:ext>
            </a:extLst>
          </p:cNvPr>
          <p:cNvSpPr>
            <a:spLocks noGrp="1"/>
          </p:cNvSpPr>
          <p:nvPr/>
        </p:nvSpPr>
        <p:spPr>
          <a:xfrm>
            <a:off x="6238875" y="2076450"/>
            <a:ext cx="381000" cy="38100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03F91702-DD99-471C-BAD6-78FC7644C2E1}"/>
              </a:ext>
            </a:extLst>
          </p:cNvPr>
          <p:cNvSpPr>
            <a:spLocks noGrp="1"/>
          </p:cNvSpPr>
          <p:nvPr/>
        </p:nvSpPr>
        <p:spPr>
          <a:xfrm>
            <a:off x="6238875" y="21717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CBB9013F-A3C3-498D-8867-85C53213CCFB}"/>
              </a:ext>
            </a:extLst>
          </p:cNvPr>
          <p:cNvSpPr>
            <a:spLocks noGrp="1"/>
          </p:cNvSpPr>
          <p:nvPr/>
        </p:nvSpPr>
        <p:spPr>
          <a:xfrm>
            <a:off x="6858000" y="2143125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Başlangıç düğümü açık listeye eklenir.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F978A2C0-F30F-421B-AD65-568FCF32FE83}"/>
              </a:ext>
            </a:extLst>
          </p:cNvPr>
          <p:cNvSpPr>
            <a:spLocks noGrp="1"/>
          </p:cNvSpPr>
          <p:nvPr/>
        </p:nvSpPr>
        <p:spPr>
          <a:xfrm>
            <a:off x="6238875" y="2781300"/>
            <a:ext cx="381000" cy="38100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216421EC-EE4D-4F7C-BFF8-9A69094FCD2B}"/>
              </a:ext>
            </a:extLst>
          </p:cNvPr>
          <p:cNvSpPr>
            <a:spLocks noGrp="1"/>
          </p:cNvSpPr>
          <p:nvPr/>
        </p:nvSpPr>
        <p:spPr>
          <a:xfrm>
            <a:off x="6238875" y="28765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A6E96347-9736-410F-A2B5-33757BEB02B2}"/>
              </a:ext>
            </a:extLst>
          </p:cNvPr>
          <p:cNvSpPr>
            <a:spLocks noGrp="1"/>
          </p:cNvSpPr>
          <p:nvPr/>
        </p:nvSpPr>
        <p:spPr>
          <a:xfrm>
            <a:off x="6858000" y="2847975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En düşük f(n) değerli düğüm genişletilir.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05469619-0EEF-4A42-A4A1-B5830E3CC518}"/>
              </a:ext>
            </a:extLst>
          </p:cNvPr>
          <p:cNvSpPr>
            <a:spLocks noGrp="1"/>
          </p:cNvSpPr>
          <p:nvPr/>
        </p:nvSpPr>
        <p:spPr>
          <a:xfrm>
            <a:off x="6238875" y="3486150"/>
            <a:ext cx="381000" cy="38100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84F13F80-72C0-4CA9-AA56-21C86A086E94}"/>
              </a:ext>
            </a:extLst>
          </p:cNvPr>
          <p:cNvSpPr>
            <a:spLocks noGrp="1"/>
          </p:cNvSpPr>
          <p:nvPr/>
        </p:nvSpPr>
        <p:spPr>
          <a:xfrm>
            <a:off x="6238875" y="35814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5E0DF48A-A386-4579-AB64-C9DA92FAAAD0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Kayalar elenir, maliyetli hücreler pahalı yazılır.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FA9319DF-A937-443B-BE6A-C2315DCAD2B3}"/>
              </a:ext>
            </a:extLst>
          </p:cNvPr>
          <p:cNvSpPr>
            <a:spLocks noGrp="1"/>
          </p:cNvSpPr>
          <p:nvPr/>
        </p:nvSpPr>
        <p:spPr>
          <a:xfrm>
            <a:off x="6238875" y="4191000"/>
            <a:ext cx="381000" cy="38100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2661FF40-4975-48E5-BE3F-8449E3485938}"/>
              </a:ext>
            </a:extLst>
          </p:cNvPr>
          <p:cNvSpPr>
            <a:spLocks noGrp="1"/>
          </p:cNvSpPr>
          <p:nvPr/>
        </p:nvSpPr>
        <p:spPr>
          <a:xfrm>
            <a:off x="6238875" y="42862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C7CC2E31-2C0B-4ED3-B967-8BD790031A50}"/>
              </a:ext>
            </a:extLst>
          </p:cNvPr>
          <p:cNvSpPr>
            <a:spLocks noGrp="1"/>
          </p:cNvSpPr>
          <p:nvPr/>
        </p:nvSpPr>
        <p:spPr>
          <a:xfrm>
            <a:off x="6858000" y="4257675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Hazine maskesi tamamlanınca kale hedef olur.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07C3B16D-DA95-4A93-B77D-A6B859FC175E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BB9D4C36-E5EA-4A60-B440-DBF470864A0E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841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ikdörtgen 48">
            <a:extLst>
              <a:ext uri="{FF2B5EF4-FFF2-40B4-BE49-F238E27FC236}">
                <a16:creationId xmlns:a16="http://schemas.microsoft.com/office/drawing/2014/main" id="{A9400148-7F23-45AE-99DE-19F3E9D1AB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0E282C99-02FD-4822-94ED-C0C95065F1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F2C6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8C9EE17-9FD5-46F6-9612-1DE39D0F4D42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4CA518A-5D00-43C2-A5CD-CBEFB4830CFF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AEEA302-5E73-40DC-B66B-C49E3B5B252F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59BD3215-7D7D-4231-9E4E-6562EFD8EECD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3A5DFF4-6D54-4FD0-A486-B5A4C0DF1A59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FA6BFE6-67AB-4249-B1DC-53E1B8B98EF1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201E342-4369-48D6-A7F2-7A2D0D52753F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8DB131C2-5E3B-4506-A865-B43E8864A50D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C825C990-D7B9-4F37-AC81-4296EA7DBC0A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AF0B72F-C156-492D-8730-803C7DA7A934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B2079232-EEB2-4255-9BF4-CD98F5D5289D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6F50B4A5-5929-4E7C-AA59-1C462F01AEAE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79D010E-738A-4729-950F-5F4388A37617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BDA390CC-BA49-4127-AB62-2F09E54C790A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8F9CC3D3-0C67-4EBE-9E61-4B0987F82B82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E0989099-47B0-4F9C-B3A1-F76D1E9E9F03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A0FA59BC-E889-4CF9-BE72-4D754F0F82F6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F2C6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0780288-5D66-4637-90AE-D583F97B8788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C6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66D"/>
                </a:solidFill>
                <a:latin typeface="Aptos"/>
                <a:ea typeface="Aptos"/>
                <a:cs typeface="Aptos"/>
              </a:rPr>
              <a:t>KARAR MEKANIZMASI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3F0A6352-7294-4609-9616-59CB6E3A2B39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Ajan görev koşulunu rota içinde taşır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BCAC3261-5FAB-40BF-990A-402B5B60E0E1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Kaleye erken ulaşmak yeterli değildir; hazine maskesi tamamlanmalıdır.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8BF6332E-13E5-4DEB-8402-B064AD1D6CFA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2095500" cy="1390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F86DEE38-BFFE-4391-8D8F-5A15D5F6BAAD}"/>
              </a:ext>
            </a:extLst>
          </p:cNvPr>
          <p:cNvSpPr>
            <a:spLocks noGrp="1"/>
          </p:cNvSpPr>
          <p:nvPr/>
        </p:nvSpPr>
        <p:spPr>
          <a:xfrm>
            <a:off x="952500" y="25527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1CC9744D-6F7B-4AAB-B4E9-9AE3F8B96730}"/>
              </a:ext>
            </a:extLst>
          </p:cNvPr>
          <p:cNvSpPr>
            <a:spLocks noGrp="1"/>
          </p:cNvSpPr>
          <p:nvPr/>
        </p:nvSpPr>
        <p:spPr>
          <a:xfrm>
            <a:off x="952500" y="2924175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Haritayı oku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E05F00DC-7C4A-49F4-8B9A-76C736609072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S, H ve P hücreleri çıkarılır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41E739C2-2F0E-442E-8523-4DCC08D000CD}"/>
              </a:ext>
            </a:extLst>
          </p:cNvPr>
          <p:cNvSpPr>
            <a:spLocks noGrp="1"/>
          </p:cNvSpPr>
          <p:nvPr/>
        </p:nvSpPr>
        <p:spPr>
          <a:xfrm>
            <a:off x="3028950" y="2990850"/>
            <a:ext cx="323850" cy="38100"/>
          </a:xfrm>
          <a:prstGeom prst="rect">
            <a:avLst/>
          </a:prstGeom>
          <a:solidFill>
            <a:srgbClr val="117D9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F0EC11B0-C0B0-4B36-B606-1074A1609F8C}"/>
              </a:ext>
            </a:extLst>
          </p:cNvPr>
          <p:cNvSpPr>
            <a:spLocks noGrp="1"/>
          </p:cNvSpPr>
          <p:nvPr/>
        </p:nvSpPr>
        <p:spPr>
          <a:xfrm>
            <a:off x="3495675" y="2362200"/>
            <a:ext cx="2095500" cy="1390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33FA389A-9CD9-42C2-9080-F97AB5CFF41C}"/>
              </a:ext>
            </a:extLst>
          </p:cNvPr>
          <p:cNvSpPr>
            <a:spLocks noGrp="1"/>
          </p:cNvSpPr>
          <p:nvPr/>
        </p:nvSpPr>
        <p:spPr>
          <a:xfrm>
            <a:off x="3667125" y="25527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9F738A5F-88FE-4E5E-9C28-E6F31ACCEF8D}"/>
              </a:ext>
            </a:extLst>
          </p:cNvPr>
          <p:cNvSpPr>
            <a:spLocks noGrp="1"/>
          </p:cNvSpPr>
          <p:nvPr/>
        </p:nvSpPr>
        <p:spPr>
          <a:xfrm>
            <a:off x="3667125" y="2924175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Durumu kur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9F35632A-020C-4FB7-BD4A-900EAD05600C}"/>
              </a:ext>
            </a:extLst>
          </p:cNvPr>
          <p:cNvSpPr>
            <a:spLocks noGrp="1"/>
          </p:cNvSpPr>
          <p:nvPr/>
        </p:nvSpPr>
        <p:spPr>
          <a:xfrm>
            <a:off x="3667125" y="32766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(r, c, maske) anahtarı oluşturulur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373CE79B-DD67-40C8-8653-E0B09BDBC266}"/>
              </a:ext>
            </a:extLst>
          </p:cNvPr>
          <p:cNvSpPr>
            <a:spLocks noGrp="1"/>
          </p:cNvSpPr>
          <p:nvPr/>
        </p:nvSpPr>
        <p:spPr>
          <a:xfrm>
            <a:off x="5743575" y="2990850"/>
            <a:ext cx="323850" cy="38100"/>
          </a:xfrm>
          <a:prstGeom prst="rect">
            <a:avLst/>
          </a:prstGeom>
          <a:solidFill>
            <a:srgbClr val="117D9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CA0DC80E-6DE4-4C5D-885D-B9253B8F138F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2095500" cy="1390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B23E09CF-43E4-4F03-957D-183E3B1C4EDA}"/>
              </a:ext>
            </a:extLst>
          </p:cNvPr>
          <p:cNvSpPr>
            <a:spLocks noGrp="1"/>
          </p:cNvSpPr>
          <p:nvPr/>
        </p:nvSpPr>
        <p:spPr>
          <a:xfrm>
            <a:off x="6381750" y="25527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8F2DB339-75D9-4CEF-B049-DE5D43F05E16}"/>
              </a:ext>
            </a:extLst>
          </p:cNvPr>
          <p:cNvSpPr>
            <a:spLocks noGrp="1"/>
          </p:cNvSpPr>
          <p:nvPr/>
        </p:nvSpPr>
        <p:spPr>
          <a:xfrm>
            <a:off x="6381750" y="2924175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Komşuları dene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7D9DA246-BA71-443E-8B83-2DFEAC1DF807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# elenir, R/E maliyete eklenir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3F88F6E8-BB30-4047-946C-086EDECCC15E}"/>
              </a:ext>
            </a:extLst>
          </p:cNvPr>
          <p:cNvSpPr>
            <a:spLocks noGrp="1"/>
          </p:cNvSpPr>
          <p:nvPr/>
        </p:nvSpPr>
        <p:spPr>
          <a:xfrm>
            <a:off x="8458200" y="2990850"/>
            <a:ext cx="323850" cy="38100"/>
          </a:xfrm>
          <a:prstGeom prst="rect">
            <a:avLst/>
          </a:prstGeom>
          <a:solidFill>
            <a:srgbClr val="117D9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5A129ABF-64CD-4A4B-BB07-E1DCD98CBDB9}"/>
              </a:ext>
            </a:extLst>
          </p:cNvPr>
          <p:cNvSpPr>
            <a:spLocks noGrp="1"/>
          </p:cNvSpPr>
          <p:nvPr/>
        </p:nvSpPr>
        <p:spPr>
          <a:xfrm>
            <a:off x="8924925" y="2362200"/>
            <a:ext cx="2095500" cy="1390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2091DED2-56C3-4B1F-9A40-883058AEDB0A}"/>
              </a:ext>
            </a:extLst>
          </p:cNvPr>
          <p:cNvSpPr>
            <a:spLocks noGrp="1"/>
          </p:cNvSpPr>
          <p:nvPr/>
        </p:nvSpPr>
        <p:spPr>
          <a:xfrm>
            <a:off x="9096375" y="2552700"/>
            <a:ext cx="47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E22B7A94-356C-450D-8CDB-09AF0FD2C49D}"/>
              </a:ext>
            </a:extLst>
          </p:cNvPr>
          <p:cNvSpPr>
            <a:spLocks noGrp="1"/>
          </p:cNvSpPr>
          <p:nvPr/>
        </p:nvSpPr>
        <p:spPr>
          <a:xfrm>
            <a:off x="9096375" y="2924175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Hedefi doğrula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C9A21A4-88F7-4E8C-9F41-01BB664D8409}"/>
              </a:ext>
            </a:extLst>
          </p:cNvPr>
          <p:cNvSpPr>
            <a:spLocks noGrp="1"/>
          </p:cNvSpPr>
          <p:nvPr/>
        </p:nvSpPr>
        <p:spPr>
          <a:xfrm>
            <a:off x="9096375" y="327660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Tüm P toplandıysa H kabul edilir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1D4839E2-C01D-4017-B919-25725A941DD7}"/>
              </a:ext>
            </a:extLst>
          </p:cNvPr>
          <p:cNvSpPr>
            <a:spLocks noGrp="1"/>
          </p:cNvSpPr>
          <p:nvPr/>
        </p:nvSpPr>
        <p:spPr>
          <a:xfrm>
            <a:off x="3638550" y="5486400"/>
            <a:ext cx="542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endParaRPr lang="tr-TR" sz="1050" b="0" dirty="0">
              <a:solidFill>
                <a:srgbClr val="5F75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A3D9925D-4213-4019-9088-47765E3398BF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D50098C5-599B-4AAB-9A57-CA382B2C9225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6150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Dikdörtgen 38">
            <a:extLst>
              <a:ext uri="{FF2B5EF4-FFF2-40B4-BE49-F238E27FC236}">
                <a16:creationId xmlns:a16="http://schemas.microsoft.com/office/drawing/2014/main" id="{3685AD02-869F-4894-A83C-D8B54F06B7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60A20B19-19DE-4A12-B459-1955381EC2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37D7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C95A92A-2BED-4519-A126-39D5B8927525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11D16D02-F14D-4BA1-8BC3-F9D04461A814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E9C8006C-E632-4B3D-AD23-0A2D2084984D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A3BF533-2D94-45B2-A5D3-8C06DA407C76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DAB50023-919D-4261-B75D-273ACC94CF5A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B0661AE-91CB-44A5-9FEB-3FE46CDD979F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7E67438-6BF2-42E5-A925-A6B6C8204E27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3C285B7-6DA1-4512-B106-08559F83BB6E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6BCC52C4-416C-4733-8A63-33B4D88FB1F1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96CBCB3A-3B10-429A-9F44-8C77A393B139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62FEA296-F05C-4D03-B093-9BBC8BFF15F8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D205F574-F96A-439E-92AC-E778DD645E93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E0B1AC89-696F-421A-AF7E-FBC2B9197277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35D10E90-C629-48CA-94EC-6419AFD89A6E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EE1FEE77-00CD-4A2F-98FB-297847A7107A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C1518C8F-7BFD-46F2-A620-D0AD56543F2E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E44B3348-8788-474B-84F2-AB6CB00891F4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37D7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7BA1A6C1-9E66-4B77-834C-61D3D7CA7567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7D7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7D7C4"/>
                </a:solidFill>
                <a:latin typeface="Aptos"/>
                <a:ea typeface="Aptos"/>
                <a:cs typeface="Aptos"/>
              </a:rPr>
              <a:t>UYGULAMA MIMARISI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A429C90C-C4B5-40CB-9445-6B98EBF21FE6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Arayüz, algoritma ve 3D sahne ayrıdır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EEC15D58-C2D2-469E-B962-F224ED931D75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Bu ayrım test edilebilir bir A* çekirdeği ve güçlü bir görsel prototip sağlar.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65CC8BAC-F324-436F-8661-4D0C5CEC719F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5067300" cy="7048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5B3B2D35-83E9-44E7-A765-0FB57F66A368}"/>
              </a:ext>
            </a:extLst>
          </p:cNvPr>
          <p:cNvSpPr>
            <a:spLocks noGrp="1"/>
          </p:cNvSpPr>
          <p:nvPr/>
        </p:nvSpPr>
        <p:spPr>
          <a:xfrm>
            <a:off x="1085850" y="20955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index.html + styles.css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FD1174DA-B4EF-4E92-97A5-6D64B268D5A4}"/>
              </a:ext>
            </a:extLst>
          </p:cNvPr>
          <p:cNvSpPr>
            <a:spLocks noGrp="1"/>
          </p:cNvSpPr>
          <p:nvPr/>
        </p:nvSpPr>
        <p:spPr>
          <a:xfrm>
            <a:off x="1085850" y="2352675"/>
            <a:ext cx="433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Giriş ekranı, kontrol paneli, harita seçimi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78A216EF-676C-44DA-A0D3-C4AD6AB8920B}"/>
              </a:ext>
            </a:extLst>
          </p:cNvPr>
          <p:cNvSpPr>
            <a:spLocks noGrp="1"/>
          </p:cNvSpPr>
          <p:nvPr/>
        </p:nvSpPr>
        <p:spPr>
          <a:xfrm>
            <a:off x="838200" y="2943225"/>
            <a:ext cx="5067300" cy="704850"/>
          </a:xfrm>
          <a:prstGeom prst="rect">
            <a:avLst/>
          </a:prstGeom>
          <a:solidFill>
            <a:srgbClr val="E8FBF8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F4B55BD4-C954-41E2-8391-542DE5C18798}"/>
              </a:ext>
            </a:extLst>
          </p:cNvPr>
          <p:cNvSpPr>
            <a:spLocks noGrp="1"/>
          </p:cNvSpPr>
          <p:nvPr/>
        </p:nvSpPr>
        <p:spPr>
          <a:xfrm>
            <a:off x="1085850" y="30861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app.js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CF5E3E8E-6B5F-4E3B-B1FF-280500EA3937}"/>
              </a:ext>
            </a:extLst>
          </p:cNvPr>
          <p:cNvSpPr>
            <a:spLocks noGrp="1"/>
          </p:cNvSpPr>
          <p:nvPr/>
        </p:nvSpPr>
        <p:spPr>
          <a:xfrm>
            <a:off x="1085850" y="3343275"/>
            <a:ext cx="433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A* çekirdeği, maliyet hesabı, test edilebilir fonksiyonlar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2F033947-01A2-49DD-81F8-23A34D998B40}"/>
              </a:ext>
            </a:extLst>
          </p:cNvPr>
          <p:cNvSpPr>
            <a:spLocks noGrp="1"/>
          </p:cNvSpPr>
          <p:nvPr/>
        </p:nvSpPr>
        <p:spPr>
          <a:xfrm>
            <a:off x="838200" y="3933825"/>
            <a:ext cx="5067300" cy="70485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0BF20349-933A-4E6D-B624-1A850C0B153C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game3d.js + Three.js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5339A79-B68E-472B-B2C9-B05129CCB8FE}"/>
              </a:ext>
            </a:extLst>
          </p:cNvPr>
          <p:cNvSpPr>
            <a:spLocks noGrp="1"/>
          </p:cNvSpPr>
          <p:nvPr/>
        </p:nvSpPr>
        <p:spPr>
          <a:xfrm>
            <a:off x="1085850" y="4333875"/>
            <a:ext cx="4333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3D ada sahnesi, varlıklar, rota ve ajan animasyonu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E44C4AE3-40DE-4981-8CC2-C8C6602A9D72}"/>
              </a:ext>
            </a:extLst>
          </p:cNvPr>
          <p:cNvSpPr>
            <a:spLocks noGrp="1"/>
          </p:cNvSpPr>
          <p:nvPr/>
        </p:nvSpPr>
        <p:spPr>
          <a:xfrm>
            <a:off x="7677150" y="2152650"/>
            <a:ext cx="266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endParaRPr lang="tr-TR" sz="950" b="1" dirty="0">
              <a:solidFill>
                <a:srgbClr val="117D9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3662962C-1D2B-46F2-AC95-152D76E9919E}"/>
              </a:ext>
            </a:extLst>
          </p:cNvPr>
          <p:cNvSpPr>
            <a:spLocks noGrp="1"/>
          </p:cNvSpPr>
          <p:nvPr/>
        </p:nvSpPr>
        <p:spPr>
          <a:xfrm>
            <a:off x="7677150" y="2409825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endParaRPr lang="tr-TR" sz="1550" b="1" dirty="0">
              <a:solidFill>
                <a:srgbClr val="1025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21979AFC-9D93-42A8-AFE3-2AA91B33D3B1}"/>
              </a:ext>
            </a:extLst>
          </p:cNvPr>
          <p:cNvSpPr>
            <a:spLocks noGrp="1"/>
          </p:cNvSpPr>
          <p:nvPr/>
        </p:nvSpPr>
        <p:spPr>
          <a:xfrm>
            <a:off x="7677150" y="2981325"/>
            <a:ext cx="266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endParaRPr lang="tr-TR" sz="1050" b="0" dirty="0">
              <a:solidFill>
                <a:srgbClr val="5F75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3BCBD8EA-65D4-4438-AEC8-DF41F4F8B7F4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454C535B-9666-456E-9823-441052728238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40" name="Resim 39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FE2B65E-9000-5603-5B2E-FAC4A7839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556" y="783248"/>
            <a:ext cx="3802428" cy="51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1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ikdörtgen 42">
            <a:extLst>
              <a:ext uri="{FF2B5EF4-FFF2-40B4-BE49-F238E27FC236}">
                <a16:creationId xmlns:a16="http://schemas.microsoft.com/office/drawing/2014/main" id="{AD06DF4B-B446-4EFE-96EB-CD8E0CBD3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C8E40BD-9932-4362-AFF7-8E67BD655D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5960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81FDDEC3-AA05-42FF-836B-BF0528A147F0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9C42D477-2AB0-45AB-8ADB-6E00875AE094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E268FE2-5822-48F6-8079-07698B1D8C95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12A8353-4966-4A29-BA40-8DCFF723C40B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B9967A3B-89F5-446E-8F24-BF7F10D3E8B4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89C0688-C901-4BCE-90B9-C7F5A0F87316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8FAD54C-AD42-4044-BF72-08C64715A5BD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5CF08D10-093C-406B-8810-DEE4CBB4EC44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B004CFBE-8571-4BD4-96D5-EF90B65BB50E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0357A47-2726-4664-81E2-6E9B0F63AE4B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180709B0-34F1-48E3-9C67-A1C224EECF41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E5BC94F-45FD-40CA-AAB2-72C61829C1F8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04E9ED2A-BFA3-4D60-A188-8D716840DBD5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2F0898CA-AE27-4BDC-B514-DF58B7F6D196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EB66CABC-B078-445F-A1FF-8379CE7F82B9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97BB94A2-676A-4A3B-867B-A7F435565135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6FAE9F22-87DA-42EE-8298-59F13367EC8B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5960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9ED9B747-80CE-45F1-8BF8-44F6E1E804E0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96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0B8"/>
                </a:solidFill>
                <a:latin typeface="Aptos"/>
                <a:ea typeface="Aptos"/>
                <a:cs typeface="Aptos"/>
              </a:rPr>
              <a:t>TEST SONUÇLARI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0F8CC61B-BE05-47B2-A63F-8C37A9110282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Üç hazır harita çözülür; kapalı hedef yakalanır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8781F13E-03C8-4804-B9B5-65FC67890DD9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Metrikler doğrudan test edilen A* fonksiyonundan alınmıştır.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AB3FC783-3AF7-4CE9-8B58-FE55EBB8C375}"/>
              </a:ext>
            </a:extLst>
          </p:cNvPr>
          <p:cNvSpPr>
            <a:spLocks noGrp="1"/>
          </p:cNvSpPr>
          <p:nvPr/>
        </p:nvSpPr>
        <p:spPr>
          <a:xfrm>
            <a:off x="857250" y="21812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Kafatası Adası</a:t>
            </a: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C32A7EAA-736F-4A62-A161-3E2A3CF53E4B}"/>
              </a:ext>
            </a:extLst>
          </p:cNvPr>
          <p:cNvSpPr>
            <a:spLocks noGrp="1"/>
          </p:cNvSpPr>
          <p:nvPr/>
        </p:nvSpPr>
        <p:spPr>
          <a:xfrm>
            <a:off x="3048000" y="2200275"/>
            <a:ext cx="3333750" cy="190500"/>
          </a:xfrm>
          <a:prstGeom prst="rect">
            <a:avLst/>
          </a:prstGeom>
          <a:solidFill>
            <a:srgbClr val="117D9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2506A76B-53ED-4B0A-A2D8-63D737C426C9}"/>
              </a:ext>
            </a:extLst>
          </p:cNvPr>
          <p:cNvSpPr>
            <a:spLocks noGrp="1"/>
          </p:cNvSpPr>
          <p:nvPr/>
        </p:nvSpPr>
        <p:spPr>
          <a:xfrm>
            <a:off x="6667500" y="21526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50 maliyet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FD154271-645C-4DED-A17F-A83401FBD22E}"/>
              </a:ext>
            </a:extLst>
          </p:cNvPr>
          <p:cNvSpPr>
            <a:spLocks noGrp="1"/>
          </p:cNvSpPr>
          <p:nvPr/>
        </p:nvSpPr>
        <p:spPr>
          <a:xfrm>
            <a:off x="7905750" y="21526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50 adım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A3928E4D-5349-41E6-99E3-5E36CE6F093A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835 ziyaret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BDFC4259-2EDD-4115-BDFB-B85F3AC15017}"/>
              </a:ext>
            </a:extLst>
          </p:cNvPr>
          <p:cNvSpPr>
            <a:spLocks noGrp="1"/>
          </p:cNvSpPr>
          <p:nvPr/>
        </p:nvSpPr>
        <p:spPr>
          <a:xfrm>
            <a:off x="857250" y="30194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Kayalık Geçit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135FCDF6-2812-43E1-A2B5-C977D0880BFC}"/>
              </a:ext>
            </a:extLst>
          </p:cNvPr>
          <p:cNvSpPr>
            <a:spLocks noGrp="1"/>
          </p:cNvSpPr>
          <p:nvPr/>
        </p:nvSpPr>
        <p:spPr>
          <a:xfrm>
            <a:off x="3048000" y="3038475"/>
            <a:ext cx="2800350" cy="190500"/>
          </a:xfrm>
          <a:prstGeom prst="rect">
            <a:avLst/>
          </a:prstGeom>
          <a:solidFill>
            <a:srgbClr val="F2C6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3D5F1B35-AB56-491B-A2DC-7290CB360EA7}"/>
              </a:ext>
            </a:extLst>
          </p:cNvPr>
          <p:cNvSpPr>
            <a:spLocks noGrp="1"/>
          </p:cNvSpPr>
          <p:nvPr/>
        </p:nvSpPr>
        <p:spPr>
          <a:xfrm>
            <a:off x="6667500" y="29908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42 maliyet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155F0BFF-8112-4922-84A2-B570C494BF54}"/>
              </a:ext>
            </a:extLst>
          </p:cNvPr>
          <p:cNvSpPr>
            <a:spLocks noGrp="1"/>
          </p:cNvSpPr>
          <p:nvPr/>
        </p:nvSpPr>
        <p:spPr>
          <a:xfrm>
            <a:off x="7905750" y="29908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42 adım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BBC2E24E-A937-4F22-AF22-698A799CA8CF}"/>
              </a:ext>
            </a:extLst>
          </p:cNvPr>
          <p:cNvSpPr>
            <a:spLocks noGrp="1"/>
          </p:cNvSpPr>
          <p:nvPr/>
        </p:nvSpPr>
        <p:spPr>
          <a:xfrm>
            <a:off x="8953500" y="29908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206 ziyaret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492EB644-86A2-4237-BFAD-C860F25E8C1B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Batık Gemi Koyu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E1A88FC8-F88C-4F2E-8DFC-73AB2FD629DE}"/>
              </a:ext>
            </a:extLst>
          </p:cNvPr>
          <p:cNvSpPr>
            <a:spLocks noGrp="1"/>
          </p:cNvSpPr>
          <p:nvPr/>
        </p:nvSpPr>
        <p:spPr>
          <a:xfrm>
            <a:off x="3048000" y="3876675"/>
            <a:ext cx="3333750" cy="190500"/>
          </a:xfrm>
          <a:prstGeom prst="rect">
            <a:avLst/>
          </a:prstGeom>
          <a:solidFill>
            <a:srgbClr val="F26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D4E3CC4-8C8E-4B2A-BB2D-36CC69CE63F7}"/>
              </a:ext>
            </a:extLst>
          </p:cNvPr>
          <p:cNvSpPr>
            <a:spLocks noGrp="1"/>
          </p:cNvSpPr>
          <p:nvPr/>
        </p:nvSpPr>
        <p:spPr>
          <a:xfrm>
            <a:off x="6667500" y="38290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50 maliyet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425B3DC3-D522-431A-BD85-72331B71EC77}"/>
              </a:ext>
            </a:extLst>
          </p:cNvPr>
          <p:cNvSpPr>
            <a:spLocks noGrp="1"/>
          </p:cNvSpPr>
          <p:nvPr/>
        </p:nvSpPr>
        <p:spPr>
          <a:xfrm>
            <a:off x="7905750" y="38290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50 adım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4F64F6CC-4B0B-4FA5-A99E-55955642FAA9}"/>
              </a:ext>
            </a:extLst>
          </p:cNvPr>
          <p:cNvSpPr>
            <a:spLocks noGrp="1"/>
          </p:cNvSpPr>
          <p:nvPr/>
        </p:nvSpPr>
        <p:spPr>
          <a:xfrm>
            <a:off x="8953500" y="38290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883 ziyaret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48D17008-BDE7-4F49-8F59-BE3BAB558623}"/>
              </a:ext>
            </a:extLst>
          </p:cNvPr>
          <p:cNvSpPr>
            <a:spLocks noGrp="1"/>
          </p:cNvSpPr>
          <p:nvPr/>
        </p:nvSpPr>
        <p:spPr>
          <a:xfrm>
            <a:off x="857250" y="4895850"/>
            <a:ext cx="9334500" cy="685800"/>
          </a:xfrm>
          <a:prstGeom prst="rect">
            <a:avLst/>
          </a:prstGeom>
          <a:solidFill>
            <a:srgbClr val="FFF0EA"/>
          </a:solidFill>
          <a:ln w="10478">
            <a:solidFill>
              <a:srgbClr val="F5B2A8"/>
            </a:solidFill>
            <a:prstDash val="solid"/>
          </a:ln>
        </p:spPr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060066D3-0829-4474-9840-17276C371419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Kapalı hedef testi</a:t>
            </a:r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9102CEDB-4592-49CA-8EF2-6F443324FD37}"/>
              </a:ext>
            </a:extLst>
          </p:cNvPr>
          <p:cNvSpPr>
            <a:spLocks noGrp="1"/>
          </p:cNvSpPr>
          <p:nvPr/>
        </p:nvSpPr>
        <p:spPr>
          <a:xfrm>
            <a:off x="3048000" y="51054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Rota bulunamadı durumu sonsuz döngüye girmeden tespit edildi.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FC479CB1-9809-4483-8987-8A7E13FB92C0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A1951608-40C8-4880-92CA-0A779DB8CC77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757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ikdörtgen 39">
            <a:extLst>
              <a:ext uri="{FF2B5EF4-FFF2-40B4-BE49-F238E27FC236}">
                <a16:creationId xmlns:a16="http://schemas.microsoft.com/office/drawing/2014/main" id="{D0A7A82F-97AD-43C3-B18C-EC7A065ABD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DE5570D5-C0D0-4075-83AD-E2C3CAF61B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F26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90F1DFD-3C88-4DCD-BE6B-B1E51F9ED92D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9B70AED-6657-49EE-8681-A5F13A8135D3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4A806BD8-6044-4F8E-8A00-BFDFBEFB9251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9778A41-542B-4702-B7D6-D550A836BD75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5A7F187-D0C3-4162-BF44-2172CA40DDE6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EBE90E6-A236-4CDE-8FC2-C62E26105FD9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3A04594-9BC5-456C-9ED8-D7FD6D7BCC09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F545859E-70E0-450B-A33D-FF9B14EE5E5C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946EA71D-6F12-4A52-AB84-6888BF27C15C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F170E31C-DA6E-49DA-A946-ED08E563D237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679FDFA-B14B-4A4F-BE67-640014789817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C488AC9B-FEE4-4619-9EB0-7DF9F24438AA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E19F809-2214-4BBA-BB9C-A949D030EA50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E88FC5C-D844-437B-B5AD-2AD82E161924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2917192F-F63B-45F4-9427-BAAB190CAFBC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23FFD82D-C2D0-4651-B306-FCC3C39A36EE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96D50939-EB55-40E9-A9DC-4FF9D0D8675B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F26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A23440A-3A41-4D79-B37D-981E57E13BBF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DEMO GÖRSELLERI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CFFA0AB1-6424-4A3A-8F50-EB5DC8060C11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lang="tr-TR"/>
              <a:t>Tüm Adaların Rota Görüntüleri</a:t>
            </a:r>
            <a:endParaRPr lang="tr-TR" dirty="0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5A324B4C-99B8-4119-AC8F-C688D1A417FA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endParaRPr lang="tr-TR" sz="1200" b="0" dirty="0">
              <a:solidFill>
                <a:srgbClr val="5F75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E6ED4707-D3D1-431E-9537-02B342DBC7D2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3238500" cy="2819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D96"/>
            </a:solidFill>
            <a:prstDash val="dash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026CC567-E1FC-4007-A808-B61A6C26E711}"/>
              </a:ext>
            </a:extLst>
          </p:cNvPr>
          <p:cNvSpPr>
            <a:spLocks noGrp="1"/>
          </p:cNvSpPr>
          <p:nvPr/>
        </p:nvSpPr>
        <p:spPr>
          <a:xfrm>
            <a:off x="933450" y="2019300"/>
            <a:ext cx="438150" cy="438150"/>
          </a:xfrm>
          <a:prstGeom prst="rect">
            <a:avLst/>
          </a:prstGeom>
          <a:solidFill>
            <a:srgbClr val="E8FBF8"/>
          </a:solidFill>
          <a:ln w="10478">
            <a:solidFill>
              <a:srgbClr val="37D7C4"/>
            </a:solidFill>
            <a:prstDash val="solid"/>
          </a:ln>
        </p:spPr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01E884DB-45A7-43EC-A149-DF6252D85308}"/>
              </a:ext>
            </a:extLst>
          </p:cNvPr>
          <p:cNvSpPr>
            <a:spLocks noGrp="1"/>
          </p:cNvSpPr>
          <p:nvPr/>
        </p:nvSpPr>
        <p:spPr>
          <a:xfrm>
            <a:off x="1543050" y="204787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GÖRSEL ALANI</a:t>
            </a:r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D9AB2503-818A-4335-B630-D965D0EF087D}"/>
              </a:ext>
            </a:extLst>
          </p:cNvPr>
          <p:cNvSpPr>
            <a:spLocks noGrp="1"/>
          </p:cNvSpPr>
          <p:nvPr/>
        </p:nvSpPr>
        <p:spPr>
          <a:xfrm>
            <a:off x="1543050" y="2305050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Harita A rota sonucu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C6B019FE-EBCE-4F86-9DAD-7274E5505B27}"/>
              </a:ext>
            </a:extLst>
          </p:cNvPr>
          <p:cNvSpPr>
            <a:spLocks noGrp="1"/>
          </p:cNvSpPr>
          <p:nvPr/>
        </p:nvSpPr>
        <p:spPr>
          <a:xfrm>
            <a:off x="1543050" y="28765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Buraya Kafatası Adası ekran görüntüsü gelecek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358D301B-FC7D-4F96-841E-B19C7EB059B2}"/>
              </a:ext>
            </a:extLst>
          </p:cNvPr>
          <p:cNvSpPr>
            <a:spLocks noGrp="1"/>
          </p:cNvSpPr>
          <p:nvPr/>
        </p:nvSpPr>
        <p:spPr>
          <a:xfrm>
            <a:off x="4476750" y="1847850"/>
            <a:ext cx="3238500" cy="2819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D96"/>
            </a:solidFill>
            <a:prstDash val="dash"/>
          </a:ln>
        </p:spPr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9C0F92AD-3EA7-41EB-8CF3-5F99386D99C5}"/>
              </a:ext>
            </a:extLst>
          </p:cNvPr>
          <p:cNvSpPr>
            <a:spLocks noGrp="1"/>
          </p:cNvSpPr>
          <p:nvPr/>
        </p:nvSpPr>
        <p:spPr>
          <a:xfrm>
            <a:off x="4648200" y="2019300"/>
            <a:ext cx="438150" cy="438150"/>
          </a:xfrm>
          <a:prstGeom prst="rect">
            <a:avLst/>
          </a:prstGeom>
          <a:solidFill>
            <a:srgbClr val="E8FBF8"/>
          </a:solidFill>
          <a:ln w="10478">
            <a:solidFill>
              <a:srgbClr val="37D7C4"/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2D495942-E4D7-40A4-BA59-E7153D7A7AD7}"/>
              </a:ext>
            </a:extLst>
          </p:cNvPr>
          <p:cNvSpPr>
            <a:spLocks noGrp="1"/>
          </p:cNvSpPr>
          <p:nvPr/>
        </p:nvSpPr>
        <p:spPr>
          <a:xfrm>
            <a:off x="5257800" y="204787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GÖRSEL ALANI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DF41693B-B136-4579-B7DE-5BF0EB824D98}"/>
              </a:ext>
            </a:extLst>
          </p:cNvPr>
          <p:cNvSpPr>
            <a:spLocks noGrp="1"/>
          </p:cNvSpPr>
          <p:nvPr/>
        </p:nvSpPr>
        <p:spPr>
          <a:xfrm>
            <a:off x="5257800" y="2305050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Harita B rota sonucu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574676A8-02F1-4C06-8138-E61D5EF47028}"/>
              </a:ext>
            </a:extLst>
          </p:cNvPr>
          <p:cNvSpPr>
            <a:spLocks noGrp="1"/>
          </p:cNvSpPr>
          <p:nvPr/>
        </p:nvSpPr>
        <p:spPr>
          <a:xfrm>
            <a:off x="5257800" y="28765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Buraya Kayalık Geçit ekran görüntüsü gelecek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65345307-AAEE-4BA0-931D-F682A15E8BAE}"/>
              </a:ext>
            </a:extLst>
          </p:cNvPr>
          <p:cNvSpPr>
            <a:spLocks noGrp="1"/>
          </p:cNvSpPr>
          <p:nvPr/>
        </p:nvSpPr>
        <p:spPr>
          <a:xfrm>
            <a:off x="8191500" y="1847850"/>
            <a:ext cx="3238500" cy="2819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7D96"/>
            </a:solidFill>
            <a:prstDash val="dash"/>
          </a:ln>
        </p:spPr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AED6CCB9-CD87-4104-A37B-13B861DF4D32}"/>
              </a:ext>
            </a:extLst>
          </p:cNvPr>
          <p:cNvSpPr>
            <a:spLocks noGrp="1"/>
          </p:cNvSpPr>
          <p:nvPr/>
        </p:nvSpPr>
        <p:spPr>
          <a:xfrm>
            <a:off x="8362950" y="2019300"/>
            <a:ext cx="438150" cy="438150"/>
          </a:xfrm>
          <a:prstGeom prst="rect">
            <a:avLst/>
          </a:prstGeom>
          <a:solidFill>
            <a:srgbClr val="E8FBF8"/>
          </a:solidFill>
          <a:ln w="10478">
            <a:solidFill>
              <a:srgbClr val="37D7C4"/>
            </a:solidFill>
            <a:prstDash val="solid"/>
          </a:ln>
        </p:spPr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A6B14483-ED20-4EB1-B2F7-B746085736D8}"/>
              </a:ext>
            </a:extLst>
          </p:cNvPr>
          <p:cNvSpPr>
            <a:spLocks noGrp="1"/>
          </p:cNvSpPr>
          <p:nvPr/>
        </p:nvSpPr>
        <p:spPr>
          <a:xfrm>
            <a:off x="8972550" y="2047875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GÖRSEL ALANI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3D51FDDE-1B1D-40C0-8E6C-BCD3F934EC46}"/>
              </a:ext>
            </a:extLst>
          </p:cNvPr>
          <p:cNvSpPr>
            <a:spLocks noGrp="1"/>
          </p:cNvSpPr>
          <p:nvPr/>
        </p:nvSpPr>
        <p:spPr>
          <a:xfrm>
            <a:off x="8972550" y="2305050"/>
            <a:ext cx="219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Harita C rota sonucu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2971B30A-FEA1-4B11-9516-8F05C3DFAC3D}"/>
              </a:ext>
            </a:extLst>
          </p:cNvPr>
          <p:cNvSpPr>
            <a:spLocks noGrp="1"/>
          </p:cNvSpPr>
          <p:nvPr/>
        </p:nvSpPr>
        <p:spPr>
          <a:xfrm>
            <a:off x="8972550" y="28765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Buraya Batık Gemi Koyu ekran görüntüsü gelecek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2721AEDB-65E9-4283-A23A-2D2C8F094FDF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D5AA7325-101A-4A1F-A257-5C58EFA859BC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41" name="Resim 40" descr="ekran görüntüsü, metin, multimedya yazılımı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539423B-2CD4-5DBB-384A-5E863DAE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6" y="1846385"/>
            <a:ext cx="3250391" cy="2911230"/>
          </a:xfrm>
          <a:prstGeom prst="rect">
            <a:avLst/>
          </a:prstGeom>
        </p:spPr>
      </p:pic>
      <p:pic>
        <p:nvPicPr>
          <p:cNvPr id="42" name="Resim 41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BCD76E1-88EB-4829-81D7-F20C3DE9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89" y="1851268"/>
            <a:ext cx="3515911" cy="2901463"/>
          </a:xfrm>
          <a:prstGeom prst="rect">
            <a:avLst/>
          </a:prstGeom>
        </p:spPr>
      </p:pic>
      <p:pic>
        <p:nvPicPr>
          <p:cNvPr id="44" name="Resim 43" descr="metin, ekran görüntüsü, çizgi fil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8C9E197-2063-CA46-2FED-CE66BCBFE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955" y="1846384"/>
            <a:ext cx="3326169" cy="291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18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ikdörtgen 36">
            <a:extLst>
              <a:ext uri="{FF2B5EF4-FFF2-40B4-BE49-F238E27FC236}">
                <a16:creationId xmlns:a16="http://schemas.microsoft.com/office/drawing/2014/main" id="{22C57D67-8939-4E05-933A-5A4E82D462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51D2B8E-2A5B-448F-AA27-5627D6292B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24D017C6-BD87-4E97-B428-3CCBAE18096C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1028700"/>
          </a:xfrm>
          <a:prstGeom prst="rect">
            <a:avLst/>
          </a:prstGeom>
          <a:solidFill>
            <a:srgbClr val="E8FB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242944F-98A1-4286-A527-B91856AC7858}"/>
              </a:ext>
            </a:extLst>
          </p:cNvPr>
          <p:cNvSpPr>
            <a:spLocks noGrp="1"/>
          </p:cNvSpPr>
          <p:nvPr/>
        </p:nvSpPr>
        <p:spPr>
          <a:xfrm>
            <a:off x="-1143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07282CC-40DC-4CC5-BE3C-0097312E8FC5}"/>
              </a:ext>
            </a:extLst>
          </p:cNvPr>
          <p:cNvSpPr>
            <a:spLocks noGrp="1"/>
          </p:cNvSpPr>
          <p:nvPr/>
        </p:nvSpPr>
        <p:spPr>
          <a:xfrm>
            <a:off x="-190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363EF2F-EC46-4B67-9FA3-5F3258E19338}"/>
              </a:ext>
            </a:extLst>
          </p:cNvPr>
          <p:cNvSpPr>
            <a:spLocks noGrp="1"/>
          </p:cNvSpPr>
          <p:nvPr/>
        </p:nvSpPr>
        <p:spPr>
          <a:xfrm>
            <a:off x="1047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6563E18F-B8C2-42D4-A089-AA9E3AACDC39}"/>
              </a:ext>
            </a:extLst>
          </p:cNvPr>
          <p:cNvSpPr>
            <a:spLocks noGrp="1"/>
          </p:cNvSpPr>
          <p:nvPr/>
        </p:nvSpPr>
        <p:spPr>
          <a:xfrm>
            <a:off x="2000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3754DFF-1D3F-464D-B64D-63F5F81747AD}"/>
              </a:ext>
            </a:extLst>
          </p:cNvPr>
          <p:cNvSpPr>
            <a:spLocks noGrp="1"/>
          </p:cNvSpPr>
          <p:nvPr/>
        </p:nvSpPr>
        <p:spPr>
          <a:xfrm>
            <a:off x="3238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6A5F7498-FB93-4BCB-AECB-80842E4A8DC8}"/>
              </a:ext>
            </a:extLst>
          </p:cNvPr>
          <p:cNvSpPr>
            <a:spLocks noGrp="1"/>
          </p:cNvSpPr>
          <p:nvPr/>
        </p:nvSpPr>
        <p:spPr>
          <a:xfrm>
            <a:off x="4191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008C5068-7858-4754-806B-1DF707C40B8A}"/>
              </a:ext>
            </a:extLst>
          </p:cNvPr>
          <p:cNvSpPr>
            <a:spLocks noGrp="1"/>
          </p:cNvSpPr>
          <p:nvPr/>
        </p:nvSpPr>
        <p:spPr>
          <a:xfrm>
            <a:off x="54292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5AF230C6-4A2B-4786-A041-562FE7A95F84}"/>
              </a:ext>
            </a:extLst>
          </p:cNvPr>
          <p:cNvSpPr>
            <a:spLocks noGrp="1"/>
          </p:cNvSpPr>
          <p:nvPr/>
        </p:nvSpPr>
        <p:spPr>
          <a:xfrm>
            <a:off x="63817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9A0745B-CD6A-4D07-9403-F3554CE3B6F0}"/>
              </a:ext>
            </a:extLst>
          </p:cNvPr>
          <p:cNvSpPr>
            <a:spLocks noGrp="1"/>
          </p:cNvSpPr>
          <p:nvPr/>
        </p:nvSpPr>
        <p:spPr>
          <a:xfrm>
            <a:off x="76200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04C50212-38E7-4554-B646-28620C7FFCE4}"/>
              </a:ext>
            </a:extLst>
          </p:cNvPr>
          <p:cNvSpPr>
            <a:spLocks noGrp="1"/>
          </p:cNvSpPr>
          <p:nvPr/>
        </p:nvSpPr>
        <p:spPr>
          <a:xfrm>
            <a:off x="85725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30CFEFC0-3A89-49D5-AD96-7280F4995C36}"/>
              </a:ext>
            </a:extLst>
          </p:cNvPr>
          <p:cNvSpPr>
            <a:spLocks noGrp="1"/>
          </p:cNvSpPr>
          <p:nvPr/>
        </p:nvSpPr>
        <p:spPr>
          <a:xfrm>
            <a:off x="9810750" y="615315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60833B8-4A40-47A2-A862-375AC336EE02}"/>
              </a:ext>
            </a:extLst>
          </p:cNvPr>
          <p:cNvSpPr>
            <a:spLocks noGrp="1"/>
          </p:cNvSpPr>
          <p:nvPr/>
        </p:nvSpPr>
        <p:spPr>
          <a:xfrm>
            <a:off x="10763250" y="64579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75EFF6B5-CAF6-44BE-AB83-E9C5E1F53BC4}"/>
              </a:ext>
            </a:extLst>
          </p:cNvPr>
          <p:cNvSpPr>
            <a:spLocks noGrp="1"/>
          </p:cNvSpPr>
          <p:nvPr/>
        </p:nvSpPr>
        <p:spPr>
          <a:xfrm>
            <a:off x="12001500" y="5981700"/>
            <a:ext cx="1714500" cy="95250"/>
          </a:xfrm>
          <a:prstGeom prst="rect">
            <a:avLst/>
          </a:prstGeom>
          <a:solidFill>
            <a:srgbClr val="A7E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447FDBB6-B85A-4B7D-B2A6-D9ABB117E41D}"/>
              </a:ext>
            </a:extLst>
          </p:cNvPr>
          <p:cNvSpPr>
            <a:spLocks noGrp="1"/>
          </p:cNvSpPr>
          <p:nvPr/>
        </p:nvSpPr>
        <p:spPr>
          <a:xfrm>
            <a:off x="12954000" y="6305550"/>
            <a:ext cx="1428750" cy="76200"/>
          </a:xfrm>
          <a:prstGeom prst="rect">
            <a:avLst/>
          </a:prstGeom>
          <a:solidFill>
            <a:srgbClr val="C9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4AFA2BA5-D654-4705-B46E-BEFF06033ADA}"/>
              </a:ext>
            </a:extLst>
          </p:cNvPr>
          <p:cNvSpPr>
            <a:spLocks noGrp="1"/>
          </p:cNvSpPr>
          <p:nvPr/>
        </p:nvSpPr>
        <p:spPr>
          <a:xfrm>
            <a:off x="400050" y="6391275"/>
            <a:ext cx="11391900" cy="11430"/>
          </a:xfrm>
          <a:prstGeom prst="rect">
            <a:avLst/>
          </a:prstGeom>
          <a:solidFill>
            <a:srgbClr val="C7DD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1FAF172B-95ED-49A7-9A67-CA8191A07112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76200" cy="552450"/>
          </a:xfrm>
          <a:prstGeom prst="rect">
            <a:avLst/>
          </a:prstGeom>
          <a:solidFill>
            <a:srgbClr val="2D8B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082C111F-48E4-490C-B922-48A7FAB61DE5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8B6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65"/>
                </a:solidFill>
                <a:latin typeface="Aptos"/>
                <a:ea typeface="Aptos"/>
                <a:cs typeface="Aptos"/>
              </a:rPr>
              <a:t>SONUÇ VE GELIŞTIRME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5DD72ED7-839F-40CB-A971-935AD649DDCF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532"/>
                </a:solidFill>
                <a:latin typeface="Aptos"/>
                <a:ea typeface="Aptos"/>
                <a:cs typeface="Aptos"/>
              </a:rPr>
              <a:t>A* tabanlı görev ajanı 3D deniz adasına taşındı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6FC71B06-D8A2-4D80-9E4F-9C1743576982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838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Proje, maliyetli ve çok hedefli rota aramayı oyun prototipi içinde gösterir.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219483DD-535C-444F-8166-9FDADA2B1780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2667000" cy="400050"/>
          </a:xfrm>
          <a:prstGeom prst="rect">
            <a:avLst/>
          </a:prstGeom>
          <a:solidFill>
            <a:srgbClr val="E8FBF8"/>
          </a:solidFill>
          <a:ln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82DFDE71-C8DE-4227-9BBB-B04F1F917887}"/>
              </a:ext>
            </a:extLst>
          </p:cNvPr>
          <p:cNvSpPr>
            <a:spLocks noGrp="1"/>
          </p:cNvSpPr>
          <p:nvPr/>
        </p:nvSpPr>
        <p:spPr>
          <a:xfrm>
            <a:off x="933450" y="2200275"/>
            <a:ext cx="2438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7D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7D96"/>
                </a:solidFill>
                <a:latin typeface="Aptos"/>
                <a:ea typeface="Aptos"/>
                <a:cs typeface="Aptos"/>
              </a:rPr>
              <a:t>Çalışan A* çekirdeği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32FBDE6-E57C-4048-97BD-BB2414BE7EFC}"/>
              </a:ext>
            </a:extLst>
          </p:cNvPr>
          <p:cNvSpPr>
            <a:spLocks noGrp="1"/>
          </p:cNvSpPr>
          <p:nvPr/>
        </p:nvSpPr>
        <p:spPr>
          <a:xfrm>
            <a:off x="3829050" y="2095500"/>
            <a:ext cx="2667000" cy="400050"/>
          </a:xfrm>
          <a:prstGeom prst="rect">
            <a:avLst/>
          </a:prstGeom>
          <a:solidFill>
            <a:srgbClr val="FFF8E6"/>
          </a:solidFill>
          <a:ln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19D47B5B-D120-4BD9-A085-9981631A7CFA}"/>
              </a:ext>
            </a:extLst>
          </p:cNvPr>
          <p:cNvSpPr>
            <a:spLocks noGrp="1"/>
          </p:cNvSpPr>
          <p:nvPr/>
        </p:nvSpPr>
        <p:spPr>
          <a:xfrm>
            <a:off x="3943350" y="2200275"/>
            <a:ext cx="2438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9A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6A00"/>
                </a:solidFill>
                <a:latin typeface="Aptos"/>
                <a:ea typeface="Aptos"/>
                <a:cs typeface="Aptos"/>
              </a:rPr>
              <a:t>Maliyetli ada grid'i</a:t>
            </a:r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DB02A4D6-B150-474F-BF05-311FA70C1986}"/>
              </a:ext>
            </a:extLst>
          </p:cNvPr>
          <p:cNvSpPr>
            <a:spLocks noGrp="1"/>
          </p:cNvSpPr>
          <p:nvPr/>
        </p:nvSpPr>
        <p:spPr>
          <a:xfrm>
            <a:off x="6838950" y="2095500"/>
            <a:ext cx="2667000" cy="400050"/>
          </a:xfrm>
          <a:prstGeom prst="rect">
            <a:avLst/>
          </a:prstGeom>
          <a:solidFill>
            <a:srgbClr val="FFF0EA"/>
          </a:solidFill>
          <a:ln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EC1B4B8-C31E-4107-B5F5-F8435D11A9D0}"/>
              </a:ext>
            </a:extLst>
          </p:cNvPr>
          <p:cNvSpPr>
            <a:spLocks noGrp="1"/>
          </p:cNvSpPr>
          <p:nvPr/>
        </p:nvSpPr>
        <p:spPr>
          <a:xfrm>
            <a:off x="6953250" y="2200275"/>
            <a:ext cx="2438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26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6D5B"/>
                </a:solidFill>
                <a:latin typeface="Aptos"/>
                <a:ea typeface="Aptos"/>
                <a:cs typeface="Aptos"/>
              </a:rPr>
              <a:t>3D Three.js sahnesi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482DBF13-DA86-4127-B899-555B133BCFD6}"/>
              </a:ext>
            </a:extLst>
          </p:cNvPr>
          <p:cNvSpPr>
            <a:spLocks noGrp="1"/>
          </p:cNvSpPr>
          <p:nvPr/>
        </p:nvSpPr>
        <p:spPr>
          <a:xfrm>
            <a:off x="1181100" y="3352800"/>
            <a:ext cx="4095750" cy="12192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7C132D8D-2EC6-4EFB-9938-AE5272316D85}"/>
              </a:ext>
            </a:extLst>
          </p:cNvPr>
          <p:cNvSpPr>
            <a:spLocks noGrp="1"/>
          </p:cNvSpPr>
          <p:nvPr/>
        </p:nvSpPr>
        <p:spPr>
          <a:xfrm>
            <a:off x="1447800" y="35814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8B6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8B65"/>
                </a:solidFill>
                <a:latin typeface="Aptos"/>
                <a:ea typeface="Aptos"/>
                <a:cs typeface="Aptos"/>
              </a:rPr>
              <a:t>Bugünkü çıktı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352B42A8-D0D4-4369-B53F-CA08DA5D112F}"/>
              </a:ext>
            </a:extLst>
          </p:cNvPr>
          <p:cNvSpPr>
            <a:spLocks noGrp="1"/>
          </p:cNvSpPr>
          <p:nvPr/>
        </p:nvSpPr>
        <p:spPr>
          <a:xfrm>
            <a:off x="1447800" y="3962400"/>
            <a:ext cx="342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Hazine toplama koşulunu ve rota maliyetlerini birlikte çözen oynanabilir bir prototip.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E9B0F1E-A9DB-4574-AD29-CF044F6C65FA}"/>
              </a:ext>
            </a:extLst>
          </p:cNvPr>
          <p:cNvSpPr>
            <a:spLocks noGrp="1"/>
          </p:cNvSpPr>
          <p:nvPr/>
        </p:nvSpPr>
        <p:spPr>
          <a:xfrm>
            <a:off x="6667500" y="3352800"/>
            <a:ext cx="4095750" cy="1219200"/>
          </a:xfrm>
          <a:prstGeom prst="rect">
            <a:avLst/>
          </a:prstGeom>
          <a:solidFill>
            <a:srgbClr val="FFFFFF"/>
          </a:solidFill>
          <a:ln w="10478">
            <a:solidFill>
              <a:srgbClr val="D2E7EA"/>
            </a:solidFill>
            <a:prstDash val="solid"/>
          </a:ln>
        </p:spPr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5983F836-5919-434D-878B-A275DD20A824}"/>
              </a:ext>
            </a:extLst>
          </p:cNvPr>
          <p:cNvSpPr>
            <a:spLocks noGrp="1"/>
          </p:cNvSpPr>
          <p:nvPr/>
        </p:nvSpPr>
        <p:spPr>
          <a:xfrm>
            <a:off x="6934200" y="35814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D8B6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8B65"/>
                </a:solidFill>
                <a:latin typeface="Aptos"/>
                <a:ea typeface="Aptos"/>
                <a:cs typeface="Aptos"/>
              </a:rPr>
              <a:t>Sonraki adımlar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03C11B16-F21D-4CA0-A23E-AABC0BDC793C}"/>
              </a:ext>
            </a:extLst>
          </p:cNvPr>
          <p:cNvSpPr>
            <a:spLocks noGrp="1"/>
          </p:cNvSpPr>
          <p:nvPr/>
        </p:nvSpPr>
        <p:spPr>
          <a:xfrm>
            <a:off x="6934200" y="3962400"/>
            <a:ext cx="342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53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532"/>
                </a:solidFill>
                <a:latin typeface="Aptos"/>
                <a:ea typeface="Aptos"/>
                <a:cs typeface="Aptos"/>
              </a:rPr>
              <a:t>Dinamik engel, zaman sınırı, farklı sezgisel fonksiyonlar ve puan sistemi eklenebilir.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7CFF4444-494E-4A87-AB9F-15E35B3D0EB3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Korsan Hazine Avcısı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029E418F-FBAE-4891-BCF0-3B089E18EEE6}"/>
              </a:ext>
            </a:extLst>
          </p:cNvPr>
          <p:cNvSpPr>
            <a:spLocks noGrp="1"/>
          </p:cNvSpPr>
          <p:nvPr/>
        </p:nvSpPr>
        <p:spPr>
          <a:xfrm>
            <a:off x="11106150" y="651510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5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5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0705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Geniş ekran</PresentationFormat>
  <Slides>10</Slides>
  <Notes>10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37</cp:revision>
  <dcterms:created xsi:type="dcterms:W3CDTF">2026-06-04T07:44:20Z</dcterms:created>
  <dcterms:modified xsi:type="dcterms:W3CDTF">2026-06-04T10:49:18Z</dcterms:modified>
</cp:coreProperties>
</file>